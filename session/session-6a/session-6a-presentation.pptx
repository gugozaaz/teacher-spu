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Content]</a:t>
            </a:r>
          </a:p>
          <a:p>
            <a:r>
              <a:t>ภาคเรียนที่ 1/2569</a:t>
            </a:r>
          </a:p>
          <a:p>
            <a:r>
              <a:t>ครั้งพิเศษ (Session 6A)</a:t>
            </a:r>
          </a:p>
          <a:p>
            <a:r>
              <a:t>Data Analytics ด้วย Google Sheets</a:t>
            </a:r>
          </a:p>
          <a:p>
            <a:r>
              <a:t>จาก 4 สูตรพื้นฐาน สู่พลังแห่ง Pivot Table</a:t>
            </a:r>
          </a:p>
          <a:p>
            <a:r>
              <a:t>Fundamentals of Data Science (พื้นฐานวิทยาการข้อมูล)</a:t>
            </a:r>
          </a:p>
          <a:p>
            <a:r>
              <a:t>ผู้สอน: อาจารย์สุรชัย โกยสันติสุข | คณะการสร้างเจ้าของธุรกิจ มหาวิทยาลัยศรีปทุม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 Content]</a:t>
            </a:r>
          </a:p>
          <a:p>
            <a:r>
              <a:t>วงจร Data Science: เจาะลึกขั้นที่ 4 'ANALYZE'</a:t>
            </a:r>
          </a:p>
          <a:p>
            <a:r>
              <a:t>ติดอาวุธการวิเคราะห์ตัวเลขด้วยตนเอง ก่อนก้าวสู่ Data Visualization</a:t>
            </a:r>
          </a:p>
          <a:p>
            <a:r>
              <a:t>STEP 4 (SPECIAL)</a:t>
            </a:r>
          </a:p>
          <a:p>
            <a:r>
              <a:t>STEP 1</a:t>
            </a:r>
          </a:p>
          <a:p>
            <a:r>
              <a:t>ASK</a:t>
            </a:r>
          </a:p>
          <a:p>
            <a:r>
              <a:t>ตั้งคำถาม &amp; สมมติฐาน</a:t>
            </a:r>
          </a:p>
          <a:p>
            <a:r>
              <a:t>(Session 1-2)</a:t>
            </a:r>
          </a:p>
          <a:p>
            <a:r>
              <a:t>STEP 2</a:t>
            </a:r>
          </a:p>
          <a:p>
            <a:r>
              <a:t>COLLECT</a:t>
            </a:r>
          </a:p>
          <a:p>
            <a:r>
              <a:t>Tidy Data &amp; Forms (Session</a:t>
            </a:r>
          </a:p>
          <a:p>
            <a:r>
              <a:t>3-4)</a:t>
            </a:r>
          </a:p>
          <a:p>
            <a:r>
              <a:t>STEP 3</a:t>
            </a:r>
          </a:p>
          <a:p>
            <a:r>
              <a:t>PREPARE</a:t>
            </a:r>
          </a:p>
          <a:p>
            <a:r>
              <a:t>Data Cleaning ล้างชีต</a:t>
            </a:r>
          </a:p>
          <a:p>
            <a:r>
              <a:t>(Session 5)</a:t>
            </a:r>
          </a:p>
          <a:p>
            <a:r>
              <a:t>STEP 5</a:t>
            </a:r>
          </a:p>
          <a:p>
            <a:r>
              <a:t>ACT</a:t>
            </a:r>
          </a:p>
          <a:p>
            <a:r>
              <a:t>Dashboard &amp; Story (Session</a:t>
            </a:r>
          </a:p>
          <a:p>
            <a:r>
              <a:t>8-14)</a:t>
            </a:r>
          </a:p>
          <a:p>
            <a:r>
              <a:t> คาบที่แล้ว (Session 6: Gemini AI)</a:t>
            </a:r>
          </a:p>
          <a:p>
            <a:r>
              <a:t>• ใช้ Gemini Advanced สวมบท Senior Data Analyst คู่คิด</a:t>
            </a:r>
          </a:p>
          <a:p>
            <a:r>
              <a:t>• สั่งงานด้วยโครงสร้าง C-R-O-D-A Prompt เพื่อขุด Insight เชิงกลยุทธ์</a:t>
            </a:r>
          </a:p>
          <a:p>
            <a:r>
              <a:t>• แต่เจ้าของธุรกิจยังจำเป็นต้องมีทักษะ ตรวจสอบความถูกต้อง (Cross-check) ด้วยตนเอง</a:t>
            </a:r>
          </a:p>
          <a:p>
            <a:r>
              <a:t> คาบนี้ (Session 6A: Sheets &amp; Pivot)</a:t>
            </a:r>
          </a:p>
          <a:p>
            <a:r>
              <a:t>• เชี่ยวชาญ 4 สูตรสำคัญ: SUM, AVERAGE, COUNT, SUMIF</a:t>
            </a:r>
          </a:p>
          <a:p>
            <a:r>
              <a:t>• เข้าใจข้อจำกัดของสูตรมือ เมื่อต้องตัดข้อมูลหลายมิติ (Cross-tabulation)</a:t>
            </a:r>
          </a:p>
          <a:p>
            <a:r>
              <a:t>• ปลดล็อกพลัง Pivot Table ลาก-วางสร้างสรุปยอดขายและ CRM ใน 3 วินาที</a:t>
            </a:r>
          </a:p>
          <a:p>
            <a:r>
              <a:t>ทำไมเจ้าของธุรกิจต้องทำเองเป็น? AI ช่วยคิดกลยุทธ์ได้ดี แต่ตัวเลขสรุปประจำวัน ยอดขายสาขา และยอดสั่งซื้อเฉลี่ย (AOV) เจ้าของธุรกิจที่ดู</a:t>
            </a:r>
          </a:p>
          <a:p>
            <a:r>
              <a:t>เองผ่าน Google Sheets จะตัดสินใจได้เร็วกว่า ไม่ต้องรอใคร!</a:t>
            </a:r>
          </a:p>
          <a:p>
            <a:r>
              <a:t>STEP 4 (วันนี้)</a:t>
            </a:r>
          </a:p>
          <a:p>
            <a:r>
              <a:t>ANALYZE</a:t>
            </a:r>
          </a:p>
          <a:p>
            <a:r>
              <a:t>Sheets &amp; Pivot Table</a:t>
            </a:r>
          </a:p>
          <a:p>
            <a:r>
              <a:t>(Session 6A)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Content]</a:t>
            </a:r>
          </a:p>
          <a:p>
            <a:r>
              <a:t>แผนที่การเรียนรู้ประจำคาบ (Session Roadmap)</a:t>
            </a:r>
          </a:p>
          <a:p>
            <a:r>
              <a:t>4 เสาหลักสู่การเป็นเจ้าของธุรกิจที่ควบคุมตัวเลขและลูกค้าได้อยู่หมัด</a:t>
            </a:r>
          </a:p>
          <a:p>
            <a:r>
              <a:t>150 นาที</a:t>
            </a:r>
          </a:p>
          <a:p>
            <a:r>
              <a:t></a:t>
            </a:r>
          </a:p>
          <a:p>
            <a:r>
              <a:t>1. เตรียมข้อมูล CRM</a:t>
            </a:r>
          </a:p>
          <a:p>
            <a:r>
              <a:t>สำรวจ Dataset ร้านกาแฟ</a:t>
            </a:r>
          </a:p>
          <a:p>
            <a:r>
              <a:t>1,000 บิล เข้าใจโครงสร้าง</a:t>
            </a:r>
          </a:p>
          <a:p>
            <a:r>
              <a:t>คอลัมน์ CRM และหลักการอ้างอิง</a:t>
            </a:r>
          </a:p>
          <a:p>
            <a:r>
              <a:t>ช่วงเซลล์ (Cell Range)</a:t>
            </a:r>
          </a:p>
          <a:p>
            <a:r>
              <a:t></a:t>
            </a:r>
          </a:p>
          <a:p>
            <a:r>
              <a:t>2. สูตรและฟังก์ชันทรง</a:t>
            </a:r>
          </a:p>
          <a:p>
            <a:r>
              <a:t>พลัง</a:t>
            </a:r>
          </a:p>
          <a:p>
            <a:r>
              <a:t>สรุปตัวเลขธุรกิจด้วย SUM,</a:t>
            </a:r>
          </a:p>
          <a:p>
            <a:r>
              <a:t>AVERAGE, MIN/MAX,</a:t>
            </a:r>
          </a:p>
          <a:p>
            <a:r>
              <a:t>MEDIAN และฟังก์ชันช่วยยอด</a:t>
            </a:r>
          </a:p>
          <a:p>
            <a:r>
              <a:t>ฮิตอย่าง IF, UNIQUE</a:t>
            </a:r>
          </a:p>
          <a:p>
            <a:r>
              <a:t></a:t>
            </a:r>
          </a:p>
          <a:p>
            <a:r>
              <a:t>3. กับดักสูตรมือ</a:t>
            </a:r>
          </a:p>
          <a:p>
            <a:r>
              <a:t>ทำไมสูตรมือถึงตันเมื่อเจอโจทย์</a:t>
            </a:r>
          </a:p>
          <a:p>
            <a:r>
              <a:t>หลายมิติ (Cross-tabulation)</a:t>
            </a:r>
          </a:p>
          <a:p>
            <a:r>
              <a:t>และความเสี่ยงเมื่อข้อมูลขยายตัว</a:t>
            </a:r>
          </a:p>
          <a:p>
            <a:r>
              <a:t></a:t>
            </a:r>
          </a:p>
          <a:p>
            <a:r>
              <a:t>4. พลัง Pivot Table</a:t>
            </a:r>
          </a:p>
          <a:p>
            <a:r>
              <a:t>ประกอบ 4 กล่องมหัศจรรย์:</a:t>
            </a:r>
          </a:p>
          <a:p>
            <a:r>
              <a:t>Rows, Columns, Values,</a:t>
            </a:r>
          </a:p>
          <a:p>
            <a:r>
              <a:t>Filters วิเคราะห์กลุ่มลูกค้าและ</a:t>
            </a:r>
          </a:p>
          <a:p>
            <a:r>
              <a:t>ยอดขายในพริบตา</a:t>
            </a:r>
          </a:p>
          <a:p>
            <a:r>
              <a:t>กรณีศึกษาประจำวันนี้: ชุดข้อมูลยอดขายจริง 1,000 รายการของร้าน "Toon Coffee House &amp; Roast" ที่มีลูกค้าเป็นเหล่าตัวการ์ตูน</a:t>
            </a:r>
          </a:p>
          <a:p>
            <a:r>
              <a:t>พร้อมฟิลด์วิเคราะห์ CRM ละเอียดยิบ!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 Content]</a:t>
            </a:r>
          </a:p>
          <a:p>
            <a:r>
              <a:t>ทำไมต้องทำ Data Analytics บน Spreadsheet?</a:t>
            </a:r>
          </a:p>
          <a:p>
            <a:r>
              <a:t>เครื่องมือสามัญประจำบ้านของเจ้าของธุรกิจยุคดิจิทัล</a:t>
            </a:r>
          </a:p>
          <a:p>
            <a:r>
              <a:t>ANALYTICS MINDSET</a:t>
            </a:r>
          </a:p>
          <a:p>
            <a:r>
              <a:t>1. รวดเร็ว &amp; ทันเวลา</a:t>
            </a:r>
          </a:p>
          <a:p>
            <a:r>
              <a:t>ไม่ต้องรอโปรแกรมเมอร์ ไม่ต้องรอรอบ</a:t>
            </a:r>
          </a:p>
          <a:p>
            <a:r>
              <a:t>ประชุมสิ้นเดือน เจ้าของธุรกิจสามารถเปิด</a:t>
            </a:r>
          </a:p>
          <a:p>
            <a:r>
              <a:t>Google Sheets แล้วตอบคำถามได้ภายใน</a:t>
            </a:r>
          </a:p>
          <a:p>
            <a:r>
              <a:t>2 นาที</a:t>
            </a:r>
          </a:p>
          <a:p>
            <a:r>
              <a:t>2. มองเห็นตัวเลขโปร่งใส</a:t>
            </a:r>
          </a:p>
          <a:p>
            <a:r>
              <a:t>แตกต่างจาก AI ที่บางครั้งตอบแบบ "Black</a:t>
            </a:r>
          </a:p>
          <a:p>
            <a:r>
              <a:t>Box" ใน Spreadsheet คุณสามารถคลิกดู</a:t>
            </a:r>
          </a:p>
          <a:p>
            <a:r>
              <a:t>ที่มาของสูตรและตรวจสอบทุกบิลได้อย่าง</a:t>
            </a:r>
          </a:p>
          <a:p>
            <a:r>
              <a:t>ชัดเจน 100%</a:t>
            </a:r>
          </a:p>
          <a:p>
            <a:r>
              <a:t>3. ฐานข้อมูลร่วมของทีม</a:t>
            </a:r>
          </a:p>
          <a:p>
            <a:r>
              <a:t>ทำงานร่วมกันแบบ Real-time เชื่อมต่อ</a:t>
            </a:r>
          </a:p>
          <a:p>
            <a:r>
              <a:t>ข้อมูลจาก Google Forms, POS และ</a:t>
            </a:r>
          </a:p>
          <a:p>
            <a:r>
              <a:t>Export จากระบบ CRM ได้อย่างไร้รอยต่อ</a:t>
            </a:r>
          </a:p>
          <a:p>
            <a:r>
              <a:t>"ข้อมูลดิบที่ถูกบันทึกไว้เฉยๆ คือ 'ต้นทุนค่าจัดเก็บ' แต่ข้อมูลดิบที่ถูกสรุปเป็นตัวชี้วัด (Metrics) คือ 'กำไรทางธุรกิจ'"</a:t>
            </a:r>
          </a:p>
          <a:p>
            <a:r>
              <a:t> เป้าหมายวันนี้:</a:t>
            </a:r>
          </a:p>
          <a:p>
            <a:r>
              <a:t>แปลง 1,000 แถวของข้อมูลดิบ ให้กลายเป็น Insight สำหรับวางแผน CRM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Content]</a:t>
            </a:r>
          </a:p>
          <a:p>
            <a:r>
              <a:t>ทำความรู้จัก Dataset: Toon Coffee House CRM</a:t>
            </a:r>
          </a:p>
          <a:p>
            <a:r>
              <a:t>สำรวจ 1,000 ธุรกรรมจำลองเพื่อการวิเคราะห์ลูกค้าแบบจัดเต็ม</a:t>
            </a:r>
          </a:p>
          <a:p>
            <a:r>
              <a:t>1,000 RECORDS</a:t>
            </a:r>
          </a:p>
          <a:p>
            <a:r>
              <a:t>ตารางตัวอย่างข้อมูลยอดขายร้านกาแฟ (มีทั้งสิ้น 25 คอลัมน์ ครอบคลุม 1,000 แถว):</a:t>
            </a:r>
          </a:p>
          <a:p>
            <a:r>
              <a:t>Txn_ID</a:t>
            </a:r>
          </a:p>
          <a:p>
            <a:r>
              <a:t>Date / Time</a:t>
            </a:r>
          </a:p>
          <a:p>
            <a:r>
              <a:t>Customer_Name</a:t>
            </a:r>
          </a:p>
          <a:p>
            <a:r>
              <a:t>Tier</a:t>
            </a:r>
          </a:p>
          <a:p>
            <a:r>
              <a:t>Branch</a:t>
            </a:r>
          </a:p>
          <a:p>
            <a:r>
              <a:t>Channel</a:t>
            </a:r>
          </a:p>
          <a:p>
            <a:r>
              <a:t>Product</a:t>
            </a:r>
          </a:p>
          <a:p>
            <a:r>
              <a:t>Qty</a:t>
            </a:r>
          </a:p>
          <a:p>
            <a:r>
              <a:t>Net_Amount</a:t>
            </a:r>
          </a:p>
          <a:p>
            <a:r>
              <a:t>Rating</a:t>
            </a:r>
          </a:p>
          <a:p>
            <a:r>
              <a:t>TXN-0001</a:t>
            </a:r>
          </a:p>
          <a:p>
            <a:r>
              <a:t>2026-03-23 09:15</a:t>
            </a:r>
          </a:p>
          <a:p>
            <a:r>
              <a:t>รีไวล์ แอคเคอร์แมน</a:t>
            </a:r>
          </a:p>
          <a:p>
            <a:r>
              <a:t>Platinum</a:t>
            </a:r>
          </a:p>
          <a:p>
            <a:r>
              <a:t>สยามสแควร์</a:t>
            </a:r>
          </a:p>
          <a:p>
            <a:r>
              <a:t>ซื้อกลับ</a:t>
            </a:r>
          </a:p>
          <a:p>
            <a:r>
              <a:t>Hot Cafe Latte</a:t>
            </a:r>
          </a:p>
          <a:p>
            <a:r>
              <a:t>1</a:t>
            </a:r>
          </a:p>
          <a:p>
            <a:r>
              <a:t>68.00</a:t>
            </a:r>
          </a:p>
          <a:p>
            <a:r>
              <a:t>⭐ 5</a:t>
            </a:r>
          </a:p>
          <a:p>
            <a:r>
              <a:t>TXN-0002</a:t>
            </a:r>
          </a:p>
          <a:p>
            <a:r>
              <a:t>2026-01-04 13:41</a:t>
            </a:r>
          </a:p>
          <a:p>
            <a:r>
              <a:t>คามาโดะ เนซึโกะ</a:t>
            </a:r>
          </a:p>
          <a:p>
            <a:r>
              <a:t>Gold</a:t>
            </a:r>
          </a:p>
          <a:p>
            <a:r>
              <a:t>สยามสแควร์</a:t>
            </a:r>
          </a:p>
          <a:p>
            <a:r>
              <a:t>ซื้อกลับ</a:t>
            </a:r>
          </a:p>
          <a:p>
            <a:r>
              <a:t>Almond Croissant</a:t>
            </a:r>
          </a:p>
          <a:p>
            <a:r>
              <a:t>1</a:t>
            </a:r>
          </a:p>
          <a:p>
            <a:r>
              <a:t>85.50</a:t>
            </a:r>
          </a:p>
          <a:p>
            <a:r>
              <a:t>⭐ 5</a:t>
            </a:r>
          </a:p>
          <a:p>
            <a:r>
              <a:t>TXN-0002</a:t>
            </a:r>
          </a:p>
          <a:p>
            <a:r>
              <a:t>2026-01-04 13:41</a:t>
            </a:r>
          </a:p>
          <a:p>
            <a:r>
              <a:t>คามาโดะ เนซึโกะ</a:t>
            </a:r>
          </a:p>
          <a:p>
            <a:r>
              <a:t>Gold</a:t>
            </a:r>
          </a:p>
          <a:p>
            <a:r>
              <a:t>สยามสแควร์</a:t>
            </a:r>
          </a:p>
          <a:p>
            <a:r>
              <a:t>ซื้อกลับ</a:t>
            </a:r>
          </a:p>
          <a:p>
            <a:r>
              <a:t>Peach Soda (L)</a:t>
            </a:r>
          </a:p>
          <a:p>
            <a:r>
              <a:t>1</a:t>
            </a:r>
          </a:p>
          <a:p>
            <a:r>
              <a:t>85.50</a:t>
            </a:r>
          </a:p>
          <a:p>
            <a:r>
              <a:t>⭐ 5</a:t>
            </a:r>
          </a:p>
          <a:p>
            <a:r>
              <a:t>TXN-0003</a:t>
            </a:r>
          </a:p>
          <a:p>
            <a:r>
              <a:t>2026-01-13 12:38</a:t>
            </a:r>
          </a:p>
          <a:p>
            <a:r>
              <a:t>ชิซุกะ</a:t>
            </a:r>
          </a:p>
          <a:p>
            <a:r>
              <a:t>Gold</a:t>
            </a:r>
          </a:p>
          <a:p>
            <a:r>
              <a:t>ทองหล่อ</a:t>
            </a:r>
          </a:p>
          <a:p>
            <a:r>
              <a:t>ซื้อกลับ</a:t>
            </a:r>
          </a:p>
          <a:p>
            <a:r>
              <a:t>Hojicha Tea</a:t>
            </a:r>
          </a:p>
          <a:p>
            <a:r>
              <a:t>1</a:t>
            </a:r>
          </a:p>
          <a:p>
            <a:r>
              <a:t>81.00</a:t>
            </a:r>
          </a:p>
          <a:p>
            <a:r>
              <a:t>⭐ 5</a:t>
            </a:r>
          </a:p>
          <a:p>
            <a:r>
              <a:t>TXN-0003</a:t>
            </a:r>
          </a:p>
          <a:p>
            <a:r>
              <a:t>2026-01-13 12:38</a:t>
            </a:r>
          </a:p>
          <a:p>
            <a:r>
              <a:t>ชิซุกะ</a:t>
            </a:r>
          </a:p>
          <a:p>
            <a:r>
              <a:t>Gold</a:t>
            </a:r>
          </a:p>
          <a:p>
            <a:r>
              <a:t>ทองหล่อ</a:t>
            </a:r>
          </a:p>
          <a:p>
            <a:r>
              <a:t>ซื้อกลับ</a:t>
            </a:r>
          </a:p>
          <a:p>
            <a:r>
              <a:t>Dirty Coffee</a:t>
            </a:r>
          </a:p>
          <a:p>
            <a:r>
              <a:t>2</a:t>
            </a:r>
          </a:p>
          <a:p>
            <a:r>
              <a:t>162.00</a:t>
            </a:r>
          </a:p>
          <a:p>
            <a:r>
              <a:t>⭐ 5</a:t>
            </a:r>
          </a:p>
          <a:p>
            <a:r>
              <a:t>👤 มิติข้อมูลลูกค้า (CRM)</a:t>
            </a:r>
          </a:p>
          <a:p>
            <a:r>
              <a:t>Name, Tier, Gender, Age, Points</a:t>
            </a:r>
          </a:p>
          <a:p>
            <a:r>
              <a:t>☕ มิติสินค้าและสาขา</a:t>
            </a:r>
          </a:p>
          <a:p>
            <a:r>
              <a:t>Category, Product, Size, Branch</a:t>
            </a:r>
          </a:p>
          <a:p>
            <a:r>
              <a:t>💰 มิติการเงินและเวลา</a:t>
            </a:r>
          </a:p>
          <a:p>
            <a:r>
              <a:t>Net Amount, Time Slot, Channel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Content]</a:t>
            </a:r>
          </a:p>
          <a:p>
            <a:r>
              <a:t>กฎพื้นฐานของการเขียนสูตรใน Google Sheets</a:t>
            </a:r>
          </a:p>
          <a:p>
            <a:r>
              <a:t>เข้าใจโครงสร้างไวยากรณ์ (Syntax) ก่อนเริ่มกดเครื่องหมายเท่ากับ</a:t>
            </a:r>
          </a:p>
          <a:p>
            <a:r>
              <a:t>SYNTAX 101</a:t>
            </a:r>
          </a:p>
          <a:p>
            <a:r>
              <a:t>= 1. ต้องขึ้นต้นด้วย '=' เสมอ</a:t>
            </a:r>
          </a:p>
          <a:p>
            <a:r>
              <a:t>หากไม่ใส่เครื่องหมายเท่ากับ ชีตจะมองสิ่งที่คุณพิมพ์เป็นเพียงข้อความ</a:t>
            </a:r>
          </a:p>
          <a:p>
            <a:r>
              <a:t>ธรรมดา (Text) ไม่ใช่คำสั่งคำนวณ</a:t>
            </a:r>
          </a:p>
          <a:p>
            <a:r>
              <a:t>SUM(V2:V1001) ← กลายเป็นข้อความ!</a:t>
            </a:r>
          </a:p>
          <a:p>
            <a:r>
              <a:t>=SUM(V2:V1001) ← สูตรคำนวณถูกต้อง</a:t>
            </a:r>
          </a:p>
          <a:p>
            <a:r>
              <a:t> 2. การอ้างอิงช่วงเซลล์ (Cell Range)</a:t>
            </a:r>
          </a:p>
          <a:p>
            <a:r>
              <a:t>ใช้เครื่องหมายโคลอน : เพื่อบอกจุดเริ่มต้นถึงจุดสิ้นสุดของช่วง</a:t>
            </a:r>
          </a:p>
          <a:p>
            <a:r>
              <a:t>ข้อมูล</a:t>
            </a:r>
          </a:p>
          <a:p>
            <a:r>
              <a:t>V2:V1001 ← คอลัมน์ V ตั้งแต่แถว 2 ถึง 1001</a:t>
            </a:r>
          </a:p>
          <a:p>
            <a:r>
              <a:t>V2:V ← คอลัมน์ V ตั้งแต่แถว 2 จนถึงแถวสุดท้าย</a:t>
            </a:r>
          </a:p>
          <a:p>
            <a:r>
              <a:t>มือโปรแนะนำ: ใส่เครื่องหมาย $ เช่น $V$2:$V$1001 (Absolute Reference) เพื่อล็อคตำแหน่งเซลล์ไม่ให้เลื่อน เมื่อเราต้องการคัดลอก</a:t>
            </a:r>
          </a:p>
          <a:p>
            <a:r>
              <a:t>(Copy-Paste) สูตรไปยังเซลล์อื่น</a:t>
            </a:r>
          </a:p>
          <a:p>
            <a:r>
              <a:t> กฎเหล็ก:</a:t>
            </a:r>
          </a:p>
          <a:p>
            <a:r>
              <a:t>ชื่อฟังก์ชันใน Sheets พิมพ์ตัวพิมพ์เล็กหรือใหญ่ก็ได้ แต่ วงเล็บเปิด-ปิด ต้องจับคู่ครบเสมอ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Content]</a:t>
            </a:r>
          </a:p>
          <a:p>
            <a:r>
              <a:t>สูตรที่ 1: SUM — รวมทุกสิ่งทุกอย่างในธุรกิจ</a:t>
            </a:r>
          </a:p>
          <a:p>
            <a:r>
              <a:t>หาผลรวมตัวเลขในชั่วพริบตา ไม่ต้องจิ้มบวกทีละเซลล์</a:t>
            </a:r>
          </a:p>
          <a:p>
            <a:r>
              <a:t>FORMULA 1/4</a:t>
            </a:r>
          </a:p>
          <a:p>
            <a:r>
              <a:t>=SUM(range)</a:t>
            </a:r>
          </a:p>
          <a:p>
            <a:r>
              <a:t>// ตัวอย่าง: รวมยอดขายสุทธิทั้งหมดในคอลัมน์ V</a:t>
            </a:r>
          </a:p>
          <a:p>
            <a:r>
              <a:t>=SUM(V2:V1001)</a:t>
            </a:r>
          </a:p>
          <a:p>
            <a:r>
              <a:t> ผลลัพธ์จาก Dataset จริง:</a:t>
            </a:r>
          </a:p>
          <a:p>
            <a:r>
              <a:t>฿126,375.75</a:t>
            </a:r>
          </a:p>
          <a:p>
            <a:r>
              <a:t>ยอดขายสุทธิรวม (Total Net Sales) จาก 1,000 รายการสินค้า (575</a:t>
            </a:r>
          </a:p>
          <a:p>
            <a:r>
              <a:t>บิล)</a:t>
            </a:r>
          </a:p>
          <a:p>
            <a:r>
              <a:t> เจ้าของธุรกิจใช้ SUM กับอะไรบ้าง?</a:t>
            </a:r>
          </a:p>
          <a:p>
            <a:r>
              <a:t>ยอดขายรวม (Total Revenue): =SUM(V2:V1001) ได้</a:t>
            </a:r>
          </a:p>
          <a:p>
            <a:r>
              <a:t>฿126,375.75</a:t>
            </a:r>
          </a:p>
          <a:p>
            <a:r>
              <a:t>ส่วนลดรวมที่ให้ลูกค้า (Total Discounts): =SUM(U2:U1001)</a:t>
            </a:r>
          </a:p>
          <a:p>
            <a:r>
              <a:t>รวมได้ ฿9,949.25</a:t>
            </a:r>
          </a:p>
          <a:p>
            <a:r>
              <a:t>จำนวนชิ้นที่ขายได้รวม (Total Units): =SUM(S2:S1001) รวม</a:t>
            </a:r>
          </a:p>
          <a:p>
            <a:r>
              <a:t>ได้ 1,168 ชิ้น</a:t>
            </a:r>
          </a:p>
          <a:p>
            <a:r>
              <a:t>แต้มสะสม CRM ที่แจกไป: =SUM(X2:X1001) เพื่อบริหารแต้มคง</a:t>
            </a:r>
          </a:p>
          <a:p>
            <a:r>
              <a:t>ค้าง</a:t>
            </a:r>
          </a:p>
          <a:p>
            <a:r>
              <a:t>ข้อควรระวัง: SUM จะข้ามช่องที่เป็นข้อความ (Text) หรือช่องว่างโดยอัตโนมัติ แต่ถ้าเผลอมีตัวเลขที่ถูกจัดรูปแบบเป็น Text (มีเครื่องหมาย '</a:t>
            </a:r>
          </a:p>
          <a:p>
            <a:r>
              <a:t>นำหน้า) ตัวเลขนั้นจะไม่ถูกนำมารวม!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 Content]</a:t>
            </a:r>
          </a:p>
          <a:p>
            <a:r>
              <a:t>สูตรที่ 2: AVERAGE — หาค่าเฉลี่ยและ AOV หัวใจของคาเฟ่</a:t>
            </a:r>
          </a:p>
          <a:p>
            <a:r>
              <a:t>Average Order Value: ตัวชี้วัดสำคัญที่สุดในการวัดขนาดตะกร้าของลูกค้า</a:t>
            </a:r>
          </a:p>
          <a:p>
            <a:r>
              <a:t>FORMULA 2/4</a:t>
            </a:r>
          </a:p>
          <a:p>
            <a:r>
              <a:t>=AVERAGE(range)</a:t>
            </a:r>
          </a:p>
          <a:p>
            <a:r>
              <a:t>// ตัวอย่าง: หายอดขายเฉลี่ยต่อบิล</a:t>
            </a:r>
          </a:p>
          <a:p>
            <a:r>
              <a:t>=AVERAGE(V2:V1001)</a:t>
            </a:r>
          </a:p>
          <a:p>
            <a:r>
              <a:t> ผลลัพธ์ค่าเฉลี่ยจาก Dataset:</a:t>
            </a:r>
          </a:p>
          <a:p>
            <a:r>
              <a:t>฿126.38 / รายการสินค้า</a:t>
            </a:r>
          </a:p>
          <a:p>
            <a:r>
              <a:t>AOV = ฿219.78 / บิลคำสั่งซื้อ</a:t>
            </a:r>
          </a:p>
          <a:p>
            <a:r>
              <a:t>(เพราะ 1 บิลมีการสั่งเฉลี่ย 1.74 รายการ ดันยอดต่อบิลทะลุ 219 บาท!)</a:t>
            </a:r>
          </a:p>
          <a:p>
            <a:r>
              <a:t> Business Value ของ AOV สำหรับผู้ประกอบการ</a:t>
            </a:r>
          </a:p>
          <a:p>
            <a:r>
              <a:t>ถ้าร้านอยากได้ยอดขายเพิ่มขึ้น 20% คุณมี 2 ทางเลือก:</a:t>
            </a:r>
          </a:p>
          <a:p>
            <a:r>
              <a:t>1. หาลูกค้าใหม่เพิ่ม (ค่าโฆษณาสูงมาก)</a:t>
            </a:r>
          </a:p>
          <a:p>
            <a:r>
              <a:t>2. ดัน AOV ให้สูงขึ้น (Cross-selling เชียร์ขนมคู่กาแฟ ทำให้ 1 บิลมี</a:t>
            </a:r>
          </a:p>
          <a:p>
            <a:r>
              <a:t>2 ชิ้นขึ้นไป)</a:t>
            </a:r>
          </a:p>
          <a:p>
            <a:r>
              <a:t>คะแนนความพึงพอใจเฉลี่ย: =AVERAGE(Y2:Y1001) ได้ 4.49 ดาว</a:t>
            </a:r>
          </a:p>
          <a:p>
            <a:r>
              <a:t>สะท้อนความสุขของลูกค้า</a:t>
            </a:r>
          </a:p>
          <a:p>
            <a:r>
              <a:t>ระวัง Outliers: ถ้ามีออเดอร์จัดเลี้ยง 1 บิลมูลค่า 10,000 บาท ค่าเฉลี่ย AVERAGE จะพุ่งสูงจนหลอกตาได้ (ใน Session ถัดไปเราจะเรียนรู้</a:t>
            </a:r>
          </a:p>
          <a:p>
            <a:r>
              <a:t>เรื่อง Median เพื่อตรวจสอบคู่กัน)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 Content]</a:t>
            </a:r>
          </a:p>
          <a:p>
            <a:r>
              <a:t>สูตรที่ 3: COUNT vs COUNTA — นับจำนวนอย่างไรไม่ให้พลาด?</a:t>
            </a:r>
          </a:p>
          <a:p>
            <a:r>
              <a:t>การนับปริมาณธุรกรรม (Volume) และการตรวจสอบความสมบูรณ์ของข้อมูล</a:t>
            </a:r>
          </a:p>
          <a:p>
            <a:r>
              <a:t>FORMULA 3/4</a:t>
            </a:r>
          </a:p>
          <a:p>
            <a:r>
              <a:t># COUNT — นับเฉพาะ "ตัวเลข"</a:t>
            </a:r>
          </a:p>
          <a:p>
            <a:r>
              <a:t>=COUNT(V2:V1001)</a:t>
            </a:r>
          </a:p>
          <a:p>
            <a:r>
              <a:t>• นับเฉพาะเซลล์ที่มีค่าเป็นตัวเลข (Numbers)</a:t>
            </a:r>
          </a:p>
          <a:p>
            <a:r>
              <a:t>• ข้ามช่องว่าง และข้ามข้อความ</a:t>
            </a:r>
          </a:p>
          <a:p>
            <a:r>
              <a:t>• ใช้ตรวจสอบว่ามียอดเงินที่ถูกบันทึกสำเร็จกี่รายการ (ได้ 1,000</a:t>
            </a:r>
          </a:p>
          <a:p>
            <a:r>
              <a:t>รายการ)</a:t>
            </a:r>
          </a:p>
          <a:p>
            <a:r>
              <a:t>COUNTA — นับ "ทุกช่องที่ไม่ว่าง" (All)</a:t>
            </a:r>
          </a:p>
          <a:p>
            <a:r>
              <a:t>=COUNTA(H2:H1001)</a:t>
            </a:r>
          </a:p>
          <a:p>
            <a:r>
              <a:t>• ตัว 'A' ย่อมาจาก All / Any</a:t>
            </a:r>
          </a:p>
          <a:p>
            <a:r>
              <a:t>• นับทั้งข้อความ ตัวเลข สัญลักษณ์ หรือวันที่</a:t>
            </a:r>
          </a:p>
          <a:p>
            <a:r>
              <a:t>• ใช้สำหรับนับชื่อลูกค้า (Customer_Name) หรือรหัสธุรกรรมที่ไม่ใช่</a:t>
            </a:r>
          </a:p>
          <a:p>
            <a:r>
              <a:t>ตัวเลขบริสุทธิ์</a:t>
            </a:r>
          </a:p>
          <a:p>
            <a:r>
              <a:t>ข้อผิดพลาดคลาสสิก: ถ้าคุณใช้ =COUNT(H2:H1001) ในการนับคอลัมน์ชื่อลูกค้า (Customer_Name) ผลลัพธ์ที่ได้จะเป็น 0 ทันที! เพราะ</a:t>
            </a:r>
          </a:p>
          <a:p>
            <a:r>
              <a:t>ชื่อคนเป็นข้อความ ต้องใช้ COUNTA เท่านั้น</a:t>
            </a:r>
          </a:p>
          <a:p>
            <a:r>
              <a:t> ท่องจำง่ายๆ:</a:t>
            </a:r>
          </a:p>
          <a:p>
            <a:r>
              <a:t>COUNT = นับเฉพาะเลข | COUNTA = นับทุกช่องที่ไม่ว่างเปล่า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 Content]</a:t>
            </a:r>
          </a:p>
          <a:p>
            <a:r>
              <a:t>สูตรที่ 4: SUMIF — รวมยอดขายแบบมีเงื่อนไข</a:t>
            </a:r>
          </a:p>
          <a:p>
            <a:r>
              <a:t>ก้าวแรกสู่การวิเคราะห์แบบแบ่งกลุ่ม (Segmentation) เจาะจงสิ่งที่ต้องการรู้</a:t>
            </a:r>
          </a:p>
          <a:p>
            <a:r>
              <a:t>FORMULA 4/4</a:t>
            </a:r>
          </a:p>
          <a:p>
            <a:r>
              <a:t>=SUMIF(range, criterion, [sum_range])</a:t>
            </a:r>
          </a:p>
          <a:p>
            <a:r>
              <a:t>// 1. range: ช่วงข้อมูลที่ใช้ตรวจเงื่อนไข (เช่น คอลัมน์สาขา L2:L1001)</a:t>
            </a:r>
          </a:p>
          <a:p>
            <a:r>
              <a:t>// 2. criterion: เงื่อนไขที่ต้องการกรอง (เช่น "สาขาสยามสแควร์")</a:t>
            </a:r>
          </a:p>
          <a:p>
            <a:r>
              <a:t>// 3. sum_range: ช่วงข้อมูลตัวเลขที่ต้องการให้นำมาบวกกัน (เช่น ยอดขาย V2:V1001)</a:t>
            </a:r>
          </a:p>
          <a:p>
            <a:r>
              <a:t> ตัวอย่าง 1: ยอดขายเฉพาะสาขาสยาม</a:t>
            </a:r>
          </a:p>
          <a:p>
            <a:r>
              <a:t>=SUMIF(L2:L1001, "สาขาสยามสแควร์", V2:V1001)</a:t>
            </a:r>
          </a:p>
          <a:p>
            <a:r>
              <a:t>ได้ผลลัพธ์: ฿47,949.75</a:t>
            </a:r>
          </a:p>
          <a:p>
            <a:r>
              <a:t>(คิดเป็น 37.9% ของยอดขายทั้งบริษัท!)</a:t>
            </a:r>
          </a:p>
          <a:p>
            <a:r>
              <a:t> ตัวอย่าง 2: ยอดขายจากลูกค้า Platinum</a:t>
            </a:r>
          </a:p>
          <a:p>
            <a:r>
              <a:t>=SUMIF(I2:I1001, "Platinum", V2:V1001)</a:t>
            </a:r>
          </a:p>
          <a:p>
            <a:r>
              <a:t>ได้ผลลัพธ์: ฿29,652.25</a:t>
            </a:r>
          </a:p>
          <a:p>
            <a:r>
              <a:t>(พลังของ Member CRM ซื้อสม่ำเสมอทั้งไตรมาส)</a:t>
            </a:r>
          </a:p>
          <a:p>
            <a:r>
              <a:t>ข้อสังเกต: ข้อความที่เป็นเงื่อนไขต้องครอบด้วยเครื่องหมายอัญประกาศคู่ "..." เสมอ หรือจะคลิกชี้ไปยังเซลล์ที่มีข้อความนั้นอยู่ก็ได้ เช่น</a:t>
            </a:r>
          </a:p>
          <a:p>
            <a:r>
              <a:t>=SUMIF(L2:L1001, A2, V2:V1001)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 Content]</a:t>
            </a:r>
          </a:p>
          <a:p>
            <a:r>
              <a:t>คู่หูเสริมพลัง: COUNTIF — นับจำนวนตามเงื่อนไข</a:t>
            </a:r>
          </a:p>
          <a:p>
            <a:r>
              <a:t>ตอบคำถามว่ามีลูกค้ามาใช้บริการกี่ครั้งในแต่ละช่องทาง</a:t>
            </a:r>
          </a:p>
          <a:p>
            <a:r>
              <a:t>+ POWER COMBO</a:t>
            </a:r>
          </a:p>
          <a:p>
            <a:r>
              <a:t>=COUNTIF(range, criterion)</a:t>
            </a:r>
          </a:p>
          <a:p>
            <a:r>
              <a:t>// ตัวอย่าง: นับว่ามีออเดอร์เดลิเวอรี่ (Delivery) ทั้งหมดกี่บิล</a:t>
            </a:r>
          </a:p>
          <a:p>
            <a:r>
              <a:t>=COUNTIF(M2:M1001, "เดลิเวอรี่ (Delivery)")</a:t>
            </a:r>
          </a:p>
          <a:p>
            <a:r>
              <a:t>หน้าร้าน (Dine-in)</a:t>
            </a:r>
          </a:p>
          <a:p>
            <a:r>
              <a:t>393 รายการ</a:t>
            </a:r>
          </a:p>
          <a:p>
            <a:r>
              <a:t>(221 บิลคำสั่งซื้อ)</a:t>
            </a:r>
          </a:p>
          <a:p>
            <a:r>
              <a:t>ซื้อกลับ (Takeaway)</a:t>
            </a:r>
          </a:p>
          <a:p>
            <a:r>
              <a:t>431 รายการ</a:t>
            </a:r>
          </a:p>
          <a:p>
            <a:r>
              <a:t>(244 บิลคำสั่งซื้อ)</a:t>
            </a:r>
          </a:p>
          <a:p>
            <a:r>
              <a:t>เดลิเวอรี่ (Delivery)</a:t>
            </a:r>
          </a:p>
          <a:p>
            <a:r>
              <a:t>176 รายการ</a:t>
            </a:r>
          </a:p>
          <a:p>
            <a:r>
              <a:t>(110 บิลคำสั่งซื้อ)</a:t>
            </a:r>
          </a:p>
          <a:p>
            <a:r>
              <a:t>Insight เชิงปฏิบัติการ: ลูกค้า 80% สั่งที่หน้าร้าน (ทานที่ร้าน + ซื้อกลับ) แปลว่าประสบการณ์หน้าร้าน ความเร็วของบาริสต้า และบรรยากาศ</a:t>
            </a:r>
          </a:p>
          <a:p>
            <a:r>
              <a:t>ร้านคือหัวใจสำคัญในการสร้างความประทับใจ!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Content]</a:t>
            </a:r>
          </a:p>
          <a:p>
            <a:r>
              <a:t>ฟังก์ชันสถิติพื้นฐาน: MIN, MAX &amp; MEDIAN</a:t>
            </a:r>
          </a:p>
          <a:p>
            <a:r>
              <a:t>สำรวจขอบเขตยอดขาย ราคา และค้นหาค่ากลางที่แท้จริงไม่ถูก Outlier หลอก</a:t>
            </a:r>
          </a:p>
          <a:p>
            <a:r>
              <a:t>STATISTICS</a:t>
            </a:r>
          </a:p>
          <a:p>
            <a:r>
              <a:t>MIN &amp; MAX — ขอบเขตต่ำสุดและสูงสุด</a:t>
            </a:r>
          </a:p>
          <a:p>
            <a:r>
              <a:t>=MIN(V2:V1001)  →  ฿55.25</a:t>
            </a:r>
          </a:p>
          <a:p>
            <a:r>
              <a:t>=MAX(V2:V1001)  →  ฿780.00</a:t>
            </a:r>
          </a:p>
          <a:p>
            <a:r>
              <a:t>• MIN: หายอดขาย/ราคาต่ำสุด → กาแฟ/เบเกอรี่หลังหักส่วนลดสมาชิก</a:t>
            </a:r>
          </a:p>
          <a:p>
            <a:r>
              <a:t>• MAX: หาสินค้า Hero / เมล็ดกาแฟ Special Roast / สินค้าของสะสม</a:t>
            </a:r>
          </a:p>
          <a:p>
            <a:r>
              <a:t>• Business Value: ใช้ทำ Sanity Check ตรวจสอบว่ามีข้อมูลผิดปกติ</a:t>
            </a:r>
          </a:p>
          <a:p>
            <a:r>
              <a:t>หรือไม่ (เช่น ยอดขายติดลบ หรือบิล 0 บาทที่พนักงานลืมคิดเงิน)</a:t>
            </a:r>
          </a:p>
          <a:p>
            <a:r>
              <a:t>MEDIAN — ค่ามัธยฐาน เกราะป้องกัน Outlier</a:t>
            </a:r>
          </a:p>
          <a:p>
            <a:r>
              <a:t>=MEDIAN(V2:V1001)  →  ฿95.00</a:t>
            </a:r>
          </a:p>
          <a:p>
            <a:r>
              <a:t>เทียบกับ =AVERAGE(V2:V1001) ที่ได้ ฿126.38 (ต่างกันถึง</a:t>
            </a:r>
          </a:p>
          <a:p>
            <a:r>
              <a:t>฿31.38!)</a:t>
            </a:r>
          </a:p>
          <a:p>
            <a:r>
              <a:t>• MEDIAN: คือค่ากึ่งกลางของข้อมูลเมื่อนำมาเรียงจากน้อยไปมาก</a:t>
            </a:r>
          </a:p>
          <a:p>
            <a:r>
              <a:t>• ทำไม AVERAGE ถึงสูงกว่า?: เพราะมีสินค้าราคาสูง (MAX ฿780) ดึง</a:t>
            </a:r>
          </a:p>
          <a:p>
            <a:r>
              <a:t>ค่าเฉลี่ยขึ้นไป</a:t>
            </a:r>
          </a:p>
          <a:p>
            <a:r>
              <a:t>• Insight: ลูกค้ามากกว่าครึ่งหนึ่งจ่ายจริงไม่เกิน 95 บาท ต่อรายการ!</a:t>
            </a:r>
          </a:p>
          <a:p>
            <a:r>
              <a:t>กฎเหล็กของเจ้าของธุรกิจ: ในการวิเคราะห์ยอดขายและพฤติกรรมลูกค้า อย่าดูแค่ AVERAGE เพียงอย่างเดียว! ให้ดู MEDIAN และ MIN / MAX</a:t>
            </a:r>
          </a:p>
          <a:p>
            <a:r>
              <a:t>ควบคู่เสมอเพื่อเห็นภาพความจริงที่ไม่ถูกข้อมูลสุดโต่ง (Outliers) บิดเบือน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 Content]</a:t>
            </a:r>
          </a:p>
          <a:p>
            <a:r>
              <a:t>ฟังก์ชันยอดฮิตในงานธุรกิจ: IF, UNIQUE &amp; ROUND</a:t>
            </a:r>
          </a:p>
          <a:p>
            <a:r>
              <a:t>ติดสปีดการทำงาน: ตรรกะตัดสินใจ ดึงรายการไม่ซ้ำ และจัดระเบียบตัวเลข</a:t>
            </a:r>
          </a:p>
          <a:p>
            <a:r>
              <a:t>DAILY ESSENTIALS</a:t>
            </a:r>
          </a:p>
          <a:p>
            <a:r>
              <a:t>IF — ตรรกะตัดสินใจ</a:t>
            </a:r>
          </a:p>
          <a:p>
            <a:r>
              <a:t>=IF(V2&gt;=250, "Big Ticket",</a:t>
            </a:r>
          </a:p>
          <a:p>
            <a:r>
              <a:t>"Standard")</a:t>
            </a:r>
          </a:p>
          <a:p>
            <a:r>
              <a:t>• ไวยากรณ์: =IF(เงื่อนไข, จริง, เท็จ)</a:t>
            </a:r>
          </a:p>
          <a:p>
            <a:r>
              <a:t>• ตัวอย่าง: คัดแยกรายการยอดสั่งซื้อเกิน ฿250</a:t>
            </a:r>
          </a:p>
          <a:p>
            <a:r>
              <a:t>ขึ้นไปเป็นบิลใหญ่ (พบ 87 รายการ)</a:t>
            </a:r>
          </a:p>
          <a:p>
            <a:r>
              <a:t>• ใช้สร้างป้าย Tag ลูกค้า VIP หรือให้คะแนนโปร</a:t>
            </a:r>
          </a:p>
          <a:p>
            <a:r>
              <a:t>โมชั่นอัตโนมัติ</a:t>
            </a:r>
          </a:p>
          <a:p>
            <a:r>
              <a:t>UNIQUE — ดึงค่าไม่ซ้ำ</a:t>
            </a:r>
          </a:p>
          <a:p>
            <a:r>
              <a:t>=UNIQUE(N2:N1001)</a:t>
            </a:r>
          </a:p>
          <a:p>
            <a:r>
              <a:t>• ไวยากรณ์: =UNIQUE(ช่วงข้อมูล)</a:t>
            </a:r>
          </a:p>
          <a:p>
            <a:r>
              <a:t>• ตัวอย่าง: ดึงหมวดสินค้าจาก 1,000 แถว →</a:t>
            </a:r>
          </a:p>
          <a:p>
            <a:r>
              <a:t>Coffee, Bakery, Non-Coffee,</a:t>
            </a:r>
          </a:p>
          <a:p>
            <a:r>
              <a:t>Merchandise</a:t>
            </a:r>
          </a:p>
          <a:p>
            <a:r>
              <a:t>• ช่วยสำรวจมิติของตารางข้อมูลได้อย่างรวดเร็ว</a:t>
            </a:r>
          </a:p>
          <a:p>
            <a:r>
              <a:t>ใน 1 วินาที โดยไม่ต้องเลื่อนหา</a:t>
            </a:r>
          </a:p>
          <a:p>
            <a:r>
              <a:t>ROUND — ปัดเศษตัวเลข</a:t>
            </a:r>
          </a:p>
          <a:p>
            <a:r>
              <a:t>=ROUND(AVERAGE(V2:V1001), 2)</a:t>
            </a:r>
          </a:p>
          <a:p>
            <a:r>
              <a:t>• ไวยากรณ์: =ROUND(ตัวเลข, [ทศนิยม])</a:t>
            </a:r>
          </a:p>
          <a:p>
            <a:r>
              <a:t>• ตัวอย่าง: ปัดเศษทศนิยมให้เรียบร้อย หรือใช้</a:t>
            </a:r>
          </a:p>
          <a:p>
            <a:r>
              <a:t>=ROUND(..., 0) เป็น ฿126</a:t>
            </a:r>
          </a:p>
          <a:p>
            <a:r>
              <a:t>• ช่วยให้รายงานและตัวเลขแดชบอร์ดอ่านง่าย</a:t>
            </a:r>
          </a:p>
          <a:p>
            <a:r>
              <a:t>สะอาดตา ดูเป็นมืออาชีพ</a:t>
            </a:r>
          </a:p>
          <a:p>
            <a:r>
              <a:t>กล่องเครื่องมือครบครัน (Spreadsheet Toolbox): เรามีครบทั้ง SUM, AVERAGE, COUNT, COUNTA, SUMIF, COUNTIF, MIN,</a:t>
            </a:r>
          </a:p>
          <a:p>
            <a:r>
              <a:t>MAX, MEDIAN, IF, UNIQUE, ROUND พร้อมรับมือการคำนวณพื้นฐานในธุรกิจได้ทุกรูปแบบ!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14 Content]</a:t>
            </a:r>
          </a:p>
          <a:p>
            <a:r>
              <a:t>จุดที่สูตรมือเริ่ม "ตัน": เมื่อโจทย์ธุรกิจหลายมิติ</a:t>
            </a:r>
          </a:p>
          <a:p>
            <a:r>
              <a:t>ถ้าผู้บริหารหรือเจ้าของแบรนด์เริ่มถามคำถามที่ซับซ้อนขึ้นเรื่อยๆ...</a:t>
            </a:r>
          </a:p>
          <a:p>
            <a:r>
              <a:t>FORMULA TRAP</a:t>
            </a:r>
          </a:p>
          <a:p>
            <a:r>
              <a:t> คำถามจริงจากผู้บริหารร้านกาแฟ:</a:t>
            </a:r>
          </a:p>
          <a:p>
            <a:r>
              <a:t>"ช่วยสรุปยอดขายแยกตาม สาขา (4 สาขา) ตัดกับ เกรดสมาชิก (5 ระดับ) และดูเฉพาะ หมวดเครื่องดื่มกาแฟ ใน ช่วงบ่าย</a:t>
            </a:r>
          </a:p>
          <a:p>
            <a:r>
              <a:t>ให้หน่อย... ขอภายใน 5 นาทีนะ!"</a:t>
            </a:r>
          </a:p>
          <a:p>
            <a:r>
              <a:t> ถ้าคุณใช้สูตรมือ (Formula Approach):</a:t>
            </a:r>
          </a:p>
          <a:p>
            <a:r>
              <a:t>• คุณต้องสร้างตาราง 4 x 5 = 20 ช่อง</a:t>
            </a:r>
          </a:p>
          <a:p>
            <a:r>
              <a:t>• ต้องเขียนสูตร SUMIFS ซ้อน 4 เงื่อนไขในทุกช่อง</a:t>
            </a:r>
          </a:p>
          <a:p>
            <a:r>
              <a:t>• ตัวอย่างสูตร 1 ช่อง:</a:t>
            </a:r>
          </a:p>
          <a:p>
            <a:r>
              <a:t>=SUMIFS(V:V, L:L, "สยามสแควร์", I:I, "Platinum", N:N,</a:t>
            </a:r>
          </a:p>
          <a:p>
            <a:r>
              <a:t>"Coffee", D:D, "บ่าย*")</a:t>
            </a:r>
          </a:p>
          <a:p>
            <a:r>
              <a:t>→ ต้องก๊อปปี้สูตร 20 ครั้ง ถ้าพิมพ์ผิด 1 ตัวอักษร ตัวเลขพังทันที!</a:t>
            </a:r>
          </a:p>
          <a:p>
            <a:r>
              <a:t> ถ้าคุณใช้ Pivot Table:</a:t>
            </a:r>
          </a:p>
          <a:p>
            <a:r>
              <a:t>• คลิกเมนู Insert &gt; Pivot table</a:t>
            </a:r>
          </a:p>
          <a:p>
            <a:r>
              <a:t>• ลาก Branch ใส่ Rows</a:t>
            </a:r>
          </a:p>
          <a:p>
            <a:r>
              <a:t>• ลาก Tier ใส่ Columns</a:t>
            </a:r>
          </a:p>
          <a:p>
            <a:r>
              <a:t>• ลาก Net_Amount ใส่ Values</a:t>
            </a:r>
          </a:p>
          <a:p>
            <a:r>
              <a:t>• ใส่ Filter Category = Coffee, Slot = บ่าย</a:t>
            </a:r>
          </a:p>
          <a:p>
            <a:r>
              <a:t>→ เสร็จสมบูรณ์ใน 15 วินาที ไร้ข้อผิดพลาด 100%!</a:t>
            </a:r>
          </a:p>
          <a:p>
            <a:r>
              <a:t> Productivity Gap:</a:t>
            </a:r>
          </a:p>
          <a:p>
            <a:r>
              <a:t>เขียนสูตรมือใช้เวลา 25 นาที (เสี่ยงพัง) vs Pivot Table 15 วินาที สลับมุมมองได้ทันที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15 Content]</a:t>
            </a:r>
          </a:p>
          <a:p>
            <a:r>
              <a:t>มวยถูกคู่: Formulas vs Pivot Table</a:t>
            </a:r>
          </a:p>
          <a:p>
            <a:r>
              <a:t>เครื่องมือไหนเหมาะกับงานอะไร? เลือกใช้ให้ถูกจังหวะแบบมืออาชีพ</a:t>
            </a:r>
          </a:p>
          <a:p>
            <a:r>
              <a:t>DECISION GUIDE</a:t>
            </a:r>
          </a:p>
          <a:p>
            <a:r>
              <a:t>คุณลักษณะ</a:t>
            </a:r>
          </a:p>
          <a:p>
            <a:r>
              <a:t> การเขียนสูตร (Formulas)</a:t>
            </a:r>
          </a:p>
          <a:p>
            <a:r>
              <a:t> Pivot Table</a:t>
            </a:r>
          </a:p>
          <a:p>
            <a:r>
              <a:t>ความเร็วในการตั้งต้น</a:t>
            </a:r>
          </a:p>
          <a:p>
            <a:r>
              <a:t>เร็วถ้าคำนวณตัวเลขเดี่ยว 1-2 ช่อง</a:t>
            </a:r>
          </a:p>
          <a:p>
            <a:r>
              <a:t>เร็วมากในการสรุปข้อมูลก้อนใหญ่หลายมิติ</a:t>
            </a:r>
          </a:p>
          <a:p>
            <a:r>
              <a:t>การสลับมุมมอง (Slice &amp; Dice)</a:t>
            </a:r>
          </a:p>
          <a:p>
            <a:r>
              <a:t>ยาก ต้องรื้อพิมพ์สูตรและโครงตารางใหม่</a:t>
            </a:r>
          </a:p>
          <a:p>
            <a:r>
              <a:t>ลาก-วาง (Drag &amp; Drop) สลับได้ใน 3 วินาที</a:t>
            </a:r>
          </a:p>
          <a:p>
            <a:r>
              <a:t>ความเสี่ยง Human Error</a:t>
            </a:r>
          </a:p>
          <a:p>
            <a:r>
              <a:t>สูง (สะกดเงื่อนไขผิด, ล็อค Dollar Sign ผิด)</a:t>
            </a:r>
          </a:p>
          <a:p>
            <a:r>
              <a:t>ต่ำมาก (ระบบดึงค่าที่มีจริงมาจัดกลุ่มอัตโนมัติ)</a:t>
            </a:r>
          </a:p>
          <a:p>
            <a:r>
              <a:t>การขยายตัวของข้อมูลใหม่</a:t>
            </a:r>
          </a:p>
          <a:p>
            <a:r>
              <a:t>ถ้ามีสาขาใหม่ ต้องมาแทรกแถวเขียนสูตรเพิ่ม</a:t>
            </a:r>
          </a:p>
          <a:p>
            <a:r>
              <a:t>อัปเดตอัตโนมัติทันทีที่มีข้อมูลใหม่เพิ่มเข้ามา</a:t>
            </a:r>
          </a:p>
          <a:p>
            <a:r>
              <a:t>กรณีใช้งานที่เหมาะสมที่สุด</a:t>
            </a:r>
          </a:p>
          <a:p>
            <a:r>
              <a:t>ทำช่องสรุป KPI เล็กๆ ใน Dashboard</a:t>
            </a:r>
          </a:p>
          <a:p>
            <a:r>
              <a:t>ค้นหา Insight, จัดทำรายงานผู้บริหาร, CRM</a:t>
            </a:r>
          </a:p>
          <a:p>
            <a:r>
              <a:t>สรุปหลักการเลือกใช้: ถ้าต้องการตัวเลขสรุป "ช่องเดียวจบ" เช่น ยอดขายรวมทั้งร้าน → ใช้ SUM แต่ถ้าต้องการ "สำรวจข้อมูลหลายมิติเพื่อ</a:t>
            </a:r>
          </a:p>
          <a:p>
            <a:r>
              <a:t>หาคำตอบทางธุรกิจ" → ใช้ Pivot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16 Content]</a:t>
            </a:r>
          </a:p>
          <a:p>
            <a:r>
              <a:t>ถอดรหัส 4 กล่องมหัศจรรย์ของ Pivot Table</a:t>
            </a:r>
          </a:p>
          <a:p>
            <a:r>
              <a:t>เข้าใจ 4 องค์ประกอบนี้ คุณจะวิเคราะห์ข้อมูลใดๆ ในโลกธุรกิจได้ทั้งหมด</a:t>
            </a:r>
          </a:p>
          <a:p>
            <a:r>
              <a:t>CORE ARCHITECTURE</a:t>
            </a:r>
          </a:p>
          <a:p>
            <a:r>
              <a:t> 1. แถว (Rows)</a:t>
            </a:r>
          </a:p>
          <a:p>
            <a:r>
              <a:t>แกนแนวตั้ง</a:t>
            </a:r>
          </a:p>
          <a:p>
            <a:r>
              <a:t>สิ่งที่คุณต้องการ "แยกดูเป็นบรรทัดๆ" เช่น รายชื่อสาขา, ชื่อหมวดหมู่</a:t>
            </a:r>
          </a:p>
          <a:p>
            <a:r>
              <a:t>สินค้า, หรือระดับสมาชิก (Platinum, Gold, Silver)</a:t>
            </a:r>
          </a:p>
          <a:p>
            <a:r>
              <a:t> 2. คอลัมน์ (Columns)</a:t>
            </a:r>
          </a:p>
          <a:p>
            <a:r>
              <a:t>แกนแนวนอน</a:t>
            </a:r>
          </a:p>
          <a:p>
            <a:r>
              <a:t>มิติที่ต้องการ "ตัดขวางเปรียบเทียบ" เช่น ช่องทางการขาย (Dine-in,</a:t>
            </a:r>
          </a:p>
          <a:p>
            <a:r>
              <a:t>Takeaway, Delivery) หรือช่วงเวลา (เช้า, เที่ยง, บ่าย)</a:t>
            </a:r>
          </a:p>
          <a:p>
            <a:r>
              <a:t> 3. ค่า (Values)</a:t>
            </a:r>
          </a:p>
          <a:p>
            <a:r>
              <a:t>ตัวเลขคำนวณ</a:t>
            </a:r>
          </a:p>
          <a:p>
            <a:r>
              <a:t>ตัวเลขที่คุณต้องการให้ "คำนวณสรุป" เช่น ผลรวมยอดขาย (SUM of</a:t>
            </a:r>
          </a:p>
          <a:p>
            <a:r>
              <a:t>Net_Amount), ยอดเฉลี่ย (AVERAGE), หรือนับจำนวนบิล (COUNT)</a:t>
            </a:r>
          </a:p>
          <a:p>
            <a:r>
              <a:t> 4. ตัวกรอง (Filters)</a:t>
            </a:r>
          </a:p>
          <a:p>
            <a:r>
              <a:t>เจาะจงเฉพาะกลุ่ม</a:t>
            </a:r>
          </a:p>
          <a:p>
            <a:r>
              <a:t>กรองข้อมูลเฉพาะกลุ่มที่สนใจ เช่น เลือกดูเฉพาะ "วันหยุดสุดสัปดาห์</a:t>
            </a:r>
          </a:p>
          <a:p>
            <a:r>
              <a:t>(Weekend)" หรือดูเฉพาะลูกค้าเพศหญิง</a:t>
            </a:r>
          </a:p>
          <a:p>
            <a:r>
              <a:t>กุญแจสำคัญ: คิดในใจเสมอว่า "อยากให้แถวแสดงอะไร? อยากให้คอลัมน์ตัดด้วยอะไร? และอยากคำนวณตัวเลขไหน?" แล้วลากฟิลด์ลงใน 4</a:t>
            </a:r>
          </a:p>
          <a:p>
            <a:r>
              <a:t>กล่องนี้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17 Content]</a:t>
            </a:r>
          </a:p>
          <a:p>
            <a:r>
              <a:t>ขั้นตอนสร้าง Pivot Table ใน Google Sheets</a:t>
            </a:r>
          </a:p>
          <a:p>
            <a:r>
              <a:t>3 ขั้นตอนง่ายๆ ที่ใครก็ทำตามได้ทันทีบนหน้าจอ</a:t>
            </a:r>
          </a:p>
          <a:p>
            <a:r>
              <a:t>3 SIMPLE STEPS</a:t>
            </a:r>
          </a:p>
          <a:p>
            <a:r>
              <a:t></a:t>
            </a:r>
          </a:p>
          <a:p>
            <a:r>
              <a:t>Step 1: ไฮไลท์ข้อมูล</a:t>
            </a:r>
          </a:p>
          <a:p>
            <a:r>
              <a:t>คลิกที่เซลล์ใดเซลล์หนึ่งในตาราง แล้วกดคีย์ลัด</a:t>
            </a:r>
          </a:p>
          <a:p>
            <a:r>
              <a:t>Ctrl + A (หรือ Cmd + A บน Mac) เพื่อ</a:t>
            </a:r>
          </a:p>
          <a:p>
            <a:r>
              <a:t>เลือกข้อมูลทั้ง 1,000 แถว</a:t>
            </a:r>
          </a:p>
          <a:p>
            <a:r>
              <a:t></a:t>
            </a:r>
          </a:p>
          <a:p>
            <a:r>
              <a:t>Step 2: เลือกคำสั่งแทรก</a:t>
            </a:r>
          </a:p>
          <a:p>
            <a:r>
              <a:t>ไปที่เมนูบาร์ด้านบน คลิก แทรก (Insert) &gt;</a:t>
            </a:r>
          </a:p>
          <a:p>
            <a:r>
              <a:t>เลือก ตารางเดือย (Pivot table) &gt; เลือก</a:t>
            </a:r>
          </a:p>
          <a:p>
            <a:r>
              <a:t>สร้างใน "แผ่นงานใหม่ (New sheet)"</a:t>
            </a:r>
          </a:p>
          <a:p>
            <a:r>
              <a:t></a:t>
            </a:r>
          </a:p>
          <a:p>
            <a:r>
              <a:t>Step 3: ตั้งค่าใน Editor</a:t>
            </a:r>
          </a:p>
          <a:p>
            <a:r>
              <a:t>แถบ Pivot table editor จะเปิดขึ้นมาทาง</a:t>
            </a:r>
          </a:p>
          <a:p>
            <a:r>
              <a:t>ขวา กดปุ่ม Add หรือลากชื่อคอลัมน์ลงในช่อง</a:t>
            </a:r>
          </a:p>
          <a:p>
            <a:r>
              <a:t>Rows, Columns และ Values ตามต้องการ</a:t>
            </a:r>
          </a:p>
          <a:p>
            <a:r>
              <a:t>ทำไมต้องสร้างใน New sheet? เพื่อแยกแผ่นงานวิเคราะห์ออกจากชีตข้อมูลดิบอย่างเด็ดขาด ตามกฎ "Don't Touch Raw Data" ที่เรา</a:t>
            </a:r>
          </a:p>
          <a:p>
            <a:r>
              <a:t>เน้นย้ำมาตลอด ป้องกันไม่ให้เผลอไปลบหรือแก้ไขข้อมูลต้นฉบับ</a:t>
            </a:r>
          </a:p>
          <a:p>
            <a:r>
              <a:t> พร้อมแล้ว:</a:t>
            </a:r>
          </a:p>
          <a:p>
            <a:r>
              <a:t>มาลองลงมือวิเคราะห์เคสธุรกิจ CRM จริงกันใน 3 สไลด์ถัดไป!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18 Content]</a:t>
            </a:r>
          </a:p>
          <a:p>
            <a:r>
              <a:t>CRM Case 1: ใครคือกลุ่มลูกค้ากระเป๋าหนัก?</a:t>
            </a:r>
          </a:p>
          <a:p>
            <a:r>
              <a:t>วิเคราะห์ยอดขายและพฤติกรรมการจ่ายเงินตามระดับสมาชิก (Member Tier)</a:t>
            </a:r>
          </a:p>
          <a:p>
            <a:r>
              <a:t>CRM ANALYTICS</a:t>
            </a:r>
          </a:p>
          <a:p>
            <a:r>
              <a:t> การตั้งค่า Pivot Table:</a:t>
            </a:r>
          </a:p>
          <a:p>
            <a:r>
              <a:t>Rows: Member_Tier (ระดับสมาชิก)</a:t>
            </a:r>
          </a:p>
          <a:p>
            <a:r>
              <a:t>Values 1: Net_Amount (Summarize by: SUM)</a:t>
            </a:r>
          </a:p>
          <a:p>
            <a:r>
              <a:t>Values 2: Net_Amount (Summarize by: AVERAGE)</a:t>
            </a:r>
          </a:p>
          <a:p>
            <a:r>
              <a:t>Values 3: Transaction_ID (Summarize by: COUNTA)</a:t>
            </a:r>
          </a:p>
          <a:p>
            <a:r>
              <a:t> ตารางผลลัพธ์ที่ได้ทันที:</a:t>
            </a:r>
          </a:p>
          <a:p>
            <a:r>
              <a:t>Member</a:t>
            </a:r>
          </a:p>
          <a:p>
            <a:r>
              <a:t>Tier</a:t>
            </a:r>
          </a:p>
          <a:p>
            <a:r>
              <a:t>จำนวนรายการ</a:t>
            </a:r>
          </a:p>
          <a:p>
            <a:r>
              <a:t>ยอดขาย</a:t>
            </a:r>
          </a:p>
          <a:p>
            <a:r>
              <a:t>รวม</a:t>
            </a:r>
          </a:p>
          <a:p>
            <a:r>
              <a:t>Order AOV (ยอด/</a:t>
            </a:r>
          </a:p>
          <a:p>
            <a:r>
              <a:t>บิล)</a:t>
            </a:r>
          </a:p>
          <a:p>
            <a:r>
              <a:t>Platinum</a:t>
            </a:r>
          </a:p>
          <a:p>
            <a:r>
              <a:t>263 รายการ (153</a:t>
            </a:r>
          </a:p>
          <a:p>
            <a:r>
              <a:t>บิล)</a:t>
            </a:r>
          </a:p>
          <a:p>
            <a:r>
              <a:t>฿29,652.25</a:t>
            </a:r>
          </a:p>
          <a:p>
            <a:r>
              <a:t>฿193.81</a:t>
            </a:r>
          </a:p>
          <a:p>
            <a:r>
              <a:t>Gold</a:t>
            </a:r>
          </a:p>
          <a:p>
            <a:r>
              <a:t>241 รายการ (136</a:t>
            </a:r>
          </a:p>
          <a:p>
            <a:r>
              <a:t>บิล)</a:t>
            </a:r>
          </a:p>
          <a:p>
            <a:r>
              <a:t>฿30,973.50</a:t>
            </a:r>
          </a:p>
          <a:p>
            <a:r>
              <a:t>฿227.75</a:t>
            </a:r>
          </a:p>
          <a:p>
            <a:r>
              <a:t>Silver</a:t>
            </a:r>
          </a:p>
          <a:p>
            <a:r>
              <a:t>196 รายการ (115</a:t>
            </a:r>
          </a:p>
          <a:p>
            <a:r>
              <a:t>บิล)</a:t>
            </a:r>
          </a:p>
          <a:p>
            <a:r>
              <a:t>฿24,225.00</a:t>
            </a:r>
          </a:p>
          <a:p>
            <a:r>
              <a:t>฿210.65</a:t>
            </a:r>
          </a:p>
          <a:p>
            <a:r>
              <a:t>Regular</a:t>
            </a:r>
          </a:p>
          <a:p>
            <a:r>
              <a:t>150 รายการ (89</a:t>
            </a:r>
          </a:p>
          <a:p>
            <a:r>
              <a:t>บิล)</a:t>
            </a:r>
          </a:p>
          <a:p>
            <a:r>
              <a:t>฿20,390.00</a:t>
            </a:r>
          </a:p>
          <a:p>
            <a:r>
              <a:t>฿229.10</a:t>
            </a:r>
          </a:p>
          <a:p>
            <a:r>
              <a:t>Non-</a:t>
            </a:r>
          </a:p>
          <a:p>
            <a:r>
              <a:t>Member</a:t>
            </a:r>
          </a:p>
          <a:p>
            <a:r>
              <a:t>150 รายการ (82</a:t>
            </a:r>
          </a:p>
          <a:p>
            <a:r>
              <a:t>บิล)</a:t>
            </a:r>
          </a:p>
          <a:p>
            <a:r>
              <a:t>฿21,135.00</a:t>
            </a:r>
          </a:p>
          <a:p>
            <a:r>
              <a:t>฿257.74</a:t>
            </a:r>
          </a:p>
          <a:p>
            <a:r>
              <a:t>Business Insight: กลุ่ม Gold สร้างยอดขายรวมสูงสุดในร้าน (30,974 บาท) และมี Order AOV สูงถึง 227.75 บาท/บิล! แสดงว่า</a:t>
            </a:r>
          </a:p>
          <a:p>
            <a:r>
              <a:t>สมาชิกระดับนี้ชอบสั่งแบบคอมโบ (เครื่องดื่ม + ขนม) กลยุทธ์ CRM ควรมุ่งเน้นการรักษาความผูกพันและมอบแต้มพิเศษ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19 Content]</a:t>
            </a:r>
          </a:p>
          <a:p>
            <a:r>
              <a:t>CRM Case 2: สาขาไหนขายหมวดหมู่อะไรดีที่สุด?</a:t>
            </a:r>
          </a:p>
          <a:p>
            <a:r>
              <a:t>การตัดข้อมูลข้ามมิติ 2 ทาง (Cross-Tabulation: Branch vs Product Category)</a:t>
            </a:r>
          </a:p>
          <a:p>
            <a:r>
              <a:t>CROSS-TABULATION</a:t>
            </a:r>
          </a:p>
          <a:p>
            <a:r>
              <a:t> การตั้งค่า Pivot Table:</a:t>
            </a:r>
          </a:p>
          <a:p>
            <a:r>
              <a:t>Rows: Branch (สาขา)</a:t>
            </a:r>
          </a:p>
          <a:p>
            <a:r>
              <a:t>Columns: Product_Category (หมวดสินค้า)</a:t>
            </a:r>
          </a:p>
          <a:p>
            <a:r>
              <a:t>Values: Net_Amount (SUM)</a:t>
            </a:r>
          </a:p>
          <a:p>
            <a:r>
              <a:t>💡 ทิป: สลับแถวกับคอลัมน์ได้ทันทีเพียงลากกล่องสลับที่กัน!</a:t>
            </a:r>
          </a:p>
          <a:p>
            <a:r>
              <a:t> ตารางยอดขาย (บาท):</a:t>
            </a:r>
          </a:p>
          <a:p>
            <a:r>
              <a:t>สาขา</a:t>
            </a:r>
          </a:p>
          <a:p>
            <a:r>
              <a:t>Bakery</a:t>
            </a:r>
          </a:p>
          <a:p>
            <a:r>
              <a:t>Coffee</a:t>
            </a:r>
          </a:p>
          <a:p>
            <a:r>
              <a:t>Non-Coffee</a:t>
            </a:r>
          </a:p>
          <a:p>
            <a:r>
              <a:t>Merchandise</a:t>
            </a:r>
          </a:p>
          <a:p>
            <a:r>
              <a:t>สยามสแควร์</a:t>
            </a:r>
          </a:p>
          <a:p>
            <a:r>
              <a:t>฿10,394</a:t>
            </a:r>
          </a:p>
          <a:p>
            <a:r>
              <a:t>฿15,732</a:t>
            </a:r>
          </a:p>
          <a:p>
            <a:r>
              <a:t>฿10,358</a:t>
            </a:r>
          </a:p>
          <a:p>
            <a:r>
              <a:t>฿11,467</a:t>
            </a:r>
          </a:p>
          <a:p>
            <a:r>
              <a:t>อารีย์</a:t>
            </a:r>
          </a:p>
          <a:p>
            <a:r>
              <a:t>฿6,570</a:t>
            </a:r>
          </a:p>
          <a:p>
            <a:r>
              <a:t>฿7,873</a:t>
            </a:r>
          </a:p>
          <a:p>
            <a:r>
              <a:t>฿6,163</a:t>
            </a:r>
          </a:p>
          <a:p>
            <a:r>
              <a:t>฿9,913</a:t>
            </a:r>
          </a:p>
          <a:p>
            <a:r>
              <a:t>ทองหล่อ</a:t>
            </a:r>
          </a:p>
          <a:p>
            <a:r>
              <a:t>฿5,996</a:t>
            </a:r>
          </a:p>
          <a:p>
            <a:r>
              <a:t>฿7,703</a:t>
            </a:r>
          </a:p>
          <a:p>
            <a:r>
              <a:t>฿6,027</a:t>
            </a:r>
          </a:p>
          <a:p>
            <a:r>
              <a:t>฿5,632</a:t>
            </a:r>
          </a:p>
          <a:p>
            <a:r>
              <a:t>ลาดพร้าว</a:t>
            </a:r>
          </a:p>
          <a:p>
            <a:r>
              <a:t>฿5,767</a:t>
            </a:r>
          </a:p>
          <a:p>
            <a:r>
              <a:t>฿6,283</a:t>
            </a:r>
          </a:p>
          <a:p>
            <a:r>
              <a:t>฿4,154</a:t>
            </a:r>
          </a:p>
          <a:p>
            <a:r>
              <a:t>฿6,347</a:t>
            </a:r>
          </a:p>
          <a:p>
            <a:r>
              <a:t>Insight สำคัญสำหรับผู้ประกอบการ: สินค้าของสะสม (Merchandise เช่น แก้ว Tumbler ลายการ์ตูน) ขายดีโดดเด่นมากที่ สยามสแควร์</a:t>
            </a:r>
          </a:p>
          <a:p>
            <a:r>
              <a:t>(11,467 บาท) และ อารีย์ (9,913 บาท) ส่วนหมวดเบเกอรี่มียอดขายสูงที่สยามสแควร์ตามพฤติกรรมสั่งคู่เครื่องดื่ม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20 Content]</a:t>
            </a:r>
          </a:p>
          <a:p>
            <a:r>
              <a:t>CRM Case 3: ช่วงเวลาทองคำ x ช่องทางการขาย</a:t>
            </a:r>
          </a:p>
          <a:p>
            <a:r>
              <a:t>จัดสรรกำลังคนและโปรโมชั่นให้ตรงกับพฤติกรรมลูกค้า (Operations &amp; CRM)</a:t>
            </a:r>
          </a:p>
          <a:p>
            <a:r>
              <a:t>TIME ANALYTICS</a:t>
            </a:r>
          </a:p>
          <a:p>
            <a:r>
              <a:t> การตั้งค่า Pivot Table:</a:t>
            </a:r>
          </a:p>
          <a:p>
            <a:r>
              <a:t>Rows: Time_Slot (ช่วงเวลาของวัน)</a:t>
            </a:r>
          </a:p>
          <a:p>
            <a:r>
              <a:t>Columns: Sales_Channel (ช่องทางขาย)</a:t>
            </a:r>
          </a:p>
          <a:p>
            <a:r>
              <a:t>Values: Transaction_ID (COUNTA นับจำนวนบิล)</a:t>
            </a:r>
          </a:p>
          <a:p>
            <a:r>
              <a:t>💡 ลองเปลี่ยน: แสดงค่าเป็น "% of Grand Total" ในช่อง Show as</a:t>
            </a:r>
          </a:p>
          <a:p>
            <a:r>
              <a:t>เพื่อดูสัดส่วนเปอร์เซ็นต์</a:t>
            </a:r>
          </a:p>
          <a:p>
            <a:r>
              <a:t> ปริมาณบิลจำแนกตามช่วงเวลา:</a:t>
            </a:r>
          </a:p>
          <a:p>
            <a:r>
              <a:t>ช่วงเวลา</a:t>
            </a:r>
          </a:p>
          <a:p>
            <a:r>
              <a:t>ทานที่ร้าน</a:t>
            </a:r>
          </a:p>
          <a:p>
            <a:r>
              <a:t>ซื้อกลับ</a:t>
            </a:r>
          </a:p>
          <a:p>
            <a:r>
              <a:t>เดลิเวอรี่</a:t>
            </a:r>
          </a:p>
          <a:p>
            <a:r>
              <a:t>รวมรายการ</a:t>
            </a:r>
          </a:p>
          <a:p>
            <a:r>
              <a:t>เช้า (07:00-10:59)</a:t>
            </a:r>
          </a:p>
          <a:p>
            <a:r>
              <a:t>125</a:t>
            </a:r>
          </a:p>
          <a:p>
            <a:r>
              <a:t>129</a:t>
            </a:r>
          </a:p>
          <a:p>
            <a:r>
              <a:t>39</a:t>
            </a:r>
          </a:p>
          <a:p>
            <a:r>
              <a:t>293</a:t>
            </a:r>
          </a:p>
          <a:p>
            <a:r>
              <a:t>บ่าย (14:00-16:59)</a:t>
            </a:r>
          </a:p>
          <a:p>
            <a:r>
              <a:t>103</a:t>
            </a:r>
          </a:p>
          <a:p>
            <a:r>
              <a:t>127</a:t>
            </a:r>
          </a:p>
          <a:p>
            <a:r>
              <a:t>52</a:t>
            </a:r>
          </a:p>
          <a:p>
            <a:r>
              <a:t>282</a:t>
            </a:r>
          </a:p>
          <a:p>
            <a:r>
              <a:t>กลางวัน (11:00-13:59)</a:t>
            </a:r>
          </a:p>
          <a:p>
            <a:r>
              <a:t>107</a:t>
            </a:r>
          </a:p>
          <a:p>
            <a:r>
              <a:t>115</a:t>
            </a:r>
          </a:p>
          <a:p>
            <a:r>
              <a:t>52</a:t>
            </a:r>
          </a:p>
          <a:p>
            <a:r>
              <a:t>274</a:t>
            </a:r>
          </a:p>
          <a:p>
            <a:r>
              <a:t>เย็น (17:00-20:30)</a:t>
            </a:r>
          </a:p>
          <a:p>
            <a:r>
              <a:t>58</a:t>
            </a:r>
          </a:p>
          <a:p>
            <a:r>
              <a:t>60</a:t>
            </a:r>
          </a:p>
          <a:p>
            <a:r>
              <a:t>33</a:t>
            </a:r>
          </a:p>
          <a:p>
            <a:r>
              <a:t>151</a:t>
            </a:r>
          </a:p>
          <a:p>
            <a:r>
              <a:t>การตัดสินใจทางธุรกิจ: 1) ช่วงเช้าและบ่าย ซื้อกลับ (Takeaway) นำโด่ง ต้องมีสถานี Grab-and-Go และทำ Bundle เซ็ตเครื่องดื่ม+เบเกอรี่</a:t>
            </a:r>
          </a:p>
          <a:p>
            <a:r>
              <a:t>2) ช่วงเย็นยอดขายลดลงเกือบครึ่ง (151 รายการ) ควรมีโปรโมชั่น Happy Hour หลังเลิกงาน/เลิกเรียน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21 Content]</a:t>
            </a:r>
          </a:p>
          <a:p>
            <a:r>
              <a:t>ปรับแต่งขั้นสูง: Filters และ Slicers</a:t>
            </a:r>
          </a:p>
          <a:p>
            <a:r>
              <a:t>เปลี่ยน Pivot Table ให้กลายเป็น Interactive Dashboard ขนาดย่อม</a:t>
            </a:r>
          </a:p>
          <a:p>
            <a:r>
              <a:t>INTERACTIVE TOOLS</a:t>
            </a:r>
          </a:p>
          <a:p>
            <a:r>
              <a:t> 1. Built-in Pivot Filters</a:t>
            </a:r>
          </a:p>
          <a:p>
            <a:r>
              <a:t>ในช่อง Filters ของ Pivot table editor คุณสามารถกรองข้อมูลได้ 2</a:t>
            </a:r>
          </a:p>
          <a:p>
            <a:r>
              <a:t>รูปแบบ:</a:t>
            </a:r>
          </a:p>
          <a:p>
            <a:r>
              <a:t>• Filter by Values: ติ๊กเลือกเฉพาะรายการที่ต้องการ (เช่น ติ๊กเลือก</a:t>
            </a:r>
          </a:p>
          <a:p>
            <a:r>
              <a:t>เฉพาะเพศหญิง)</a:t>
            </a:r>
          </a:p>
          <a:p>
            <a:r>
              <a:t>• Filter by Condition: กรองด้วยสูตร เช่น ยอดขายมากกว่า 200</a:t>
            </a:r>
          </a:p>
          <a:p>
            <a:r>
              <a:t>บาท หรือวันที่อยู่ในเดือนมีนาคม</a:t>
            </a:r>
          </a:p>
          <a:p>
            <a:r>
              <a:t> 2. Slicers (ตัวควบคุมข้อมูลลอยตัว)</a:t>
            </a:r>
          </a:p>
          <a:p>
            <a:r>
              <a:t>ไปที่เมนู ข้อมูล (Data) &gt; เพิ่มตัวควบคุมข้อมูล (Add a slicer)</a:t>
            </a:r>
          </a:p>
          <a:p>
            <a:r>
              <a:t>• สร้างปุ่มดรอปดาวน์ลอยอยู่เหนือตาราง เช่น ตัวเลือก "เลือกสาขา"</a:t>
            </a:r>
          </a:p>
          <a:p>
            <a:r>
              <a:t>หรือ "เลือกประเภทวัน"</a:t>
            </a:r>
          </a:p>
          <a:p>
            <a:r>
              <a:t>• เมื่อคลิกเลือก ปุ่ม Slicer จะกรองตาราง Pivot Table ทุกตารางในชีต</a:t>
            </a:r>
          </a:p>
          <a:p>
            <a:r>
              <a:t>ให้เปลี่ยนผลลัพธ์ตามทันที!</a:t>
            </a:r>
          </a:p>
          <a:p>
            <a:r>
              <a:t>ทำไมเจ้าของธุรกิจต้องชอบ Slicers? เพราะคุณสามารถสร้างชีตสรุปยอดขายให้ผู้จัดการสาขาใช้ โดยผู้จัดการแค่กดคลิกเปลี่ยนชื่อสาขาใน</a:t>
            </a:r>
          </a:p>
          <a:p>
            <a:r>
              <a:t>Slicer ตารางทั้งหน้าก็เปลี่ยนเป็นข้อมูลสาขานั้นทันที ไม่ต้องสอนเขาเขียนสูตรแม้แต่นิดเดียว!</a:t>
            </a:r>
          </a:p>
          <a:p>
            <a:r>
              <a:t> ประโยชน์สูงสุด:</a:t>
            </a:r>
          </a:p>
          <a:p>
            <a:r>
              <a:t>เปลี่ยนตารางสถิตินิ่งๆ ให้กลายเป็น ระบบรายงานที่โต้ตอบได้ (Interactive Report)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22 Content]</a:t>
            </a:r>
          </a:p>
          <a:p>
            <a:r>
              <a:t>4 กับดักและข้อผิดพลาดที่พบบ่อยใน Google Sheets</a:t>
            </a:r>
          </a:p>
          <a:p>
            <a:r>
              <a:t>วิธีสังเกตและแก้ไขอาการผิดปกติเมื่อตัวเลขไม่ตรงความจริง</a:t>
            </a:r>
          </a:p>
          <a:p>
            <a:r>
              <a:t>TROUBLESHOOTING</a:t>
            </a:r>
          </a:p>
          <a:p>
            <a:r>
              <a:t> 1. ข้อผิดพลาด #REF! หรือ #VALUE!</a:t>
            </a:r>
          </a:p>
          <a:p>
            <a:r>
              <a:t>สาเหตุ: ไปลบคอลัมน์ที่สูตรอ้างอิงอยู่ หรือเผลอเอาตัวเลขไปคูณกับเซลล์ที่มี</a:t>
            </a:r>
          </a:p>
          <a:p>
            <a:r>
              <a:t>ข้อความ</a:t>
            </a:r>
          </a:p>
          <a:p>
            <a:r>
              <a:t>วิธีแก้: กด Ctrl + Z เพื่อยกเลิก หรือตรวจสอบว่าเซลล์ในสูตรพิมพ์</a:t>
            </a:r>
          </a:p>
          <a:p>
            <a:r>
              <a:t>อ้างอิงถูกคอลัมน์หรือไม่</a:t>
            </a:r>
          </a:p>
          <a:p>
            <a:r>
              <a:t> 2. Pivot Table คำนวณเป็น 0 ทั้งตาราง</a:t>
            </a:r>
          </a:p>
          <a:p>
            <a:r>
              <a:t>สาเหตุ: คอลัมน์ตัวเลขถูกมองเป็น Text (มักเกิดจากการ Import CSV ที่มี</a:t>
            </a:r>
          </a:p>
          <a:p>
            <a:r>
              <a:t>ช่องว่างนำหน้า)</a:t>
            </a:r>
          </a:p>
          <a:p>
            <a:r>
              <a:t>วิธีแก้: กลับไปที่ชีตข้อมูลดิบ ไฮไลท์คอลัมน์ แล้วเปลี่ยน Format เป็น</a:t>
            </a:r>
          </a:p>
          <a:p>
            <a:r>
              <a:t>Number (ตัวเลข)</a:t>
            </a:r>
          </a:p>
          <a:p>
            <a:r>
              <a:t> 3. ข้อมูลใหม่เพิ่มเข้ามา แต่ Pivot ไม่เปลี่ยน</a:t>
            </a:r>
          </a:p>
          <a:p>
            <a:r>
              <a:t>สาเหตุ: Range ใน Pivot ระบุไว้จำกัด เช่น A1:Y1001 พอมีแถว 1002 เลย</a:t>
            </a:r>
          </a:p>
          <a:p>
            <a:r>
              <a:t>ไม่ถูกนับ</a:t>
            </a:r>
          </a:p>
          <a:p>
            <a:r>
              <a:t>วิธีแก้: แก้ไข Data Range เป็นแบบเปิดท้าย เช่น A1:Y เพื่อให้ครอบคลุม</a:t>
            </a:r>
          </a:p>
          <a:p>
            <a:r>
              <a:t>ทุกแถวที่เพิ่มในอนาคต</a:t>
            </a:r>
          </a:p>
          <a:p>
            <a:r>
              <a:t> 4. สาขาหรือชื่อเดียวกัน ปรากฏซ้ำคนละแถว</a:t>
            </a:r>
          </a:p>
          <a:p>
            <a:r>
              <a:t>สาเหตุ: ปัญหา Whitespace (เว้นวรรคส่วนเกิน) เช่น "สาขาอารีย์ " กับ</a:t>
            </a:r>
          </a:p>
          <a:p>
            <a:r>
              <a:t>"สาขาอารีย์"</a:t>
            </a:r>
          </a:p>
          <a:p>
            <a:r>
              <a:t>วิธีแก้: ต้องใช้คำสั่ง Data Cleanup &gt; Trim whitespace ตามที่เรียนใน</a:t>
            </a:r>
          </a:p>
          <a:p>
            <a:r>
              <a:t>Session 5</a:t>
            </a:r>
          </a:p>
          <a:p>
            <a:r>
              <a:t>เห็นความสำคัญของ Session 5 (PREPARE) หรือยัง? ถ้าเราล้างข้อมูลไม่สะอาด ตัวเลขใน Pivot Table วันนี้จะพังทันที! วงจร Data</a:t>
            </a:r>
          </a:p>
          <a:p>
            <a:r>
              <a:t>Science จึงต้องทำเป็นขั้นเป็นตอน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23 Content]</a:t>
            </a:r>
          </a:p>
          <a:p>
            <a:r>
              <a:t>สรุปแม่บท: เมื่อไหร่ใช้อะไรในการวิเคราะห์ข้อมูล?</a:t>
            </a:r>
          </a:p>
          <a:p>
            <a:r>
              <a:t>เข็มทิศตัดสินใจ 1 แผ่นสำหรับเจ้าของธุรกิจ</a:t>
            </a:r>
          </a:p>
          <a:p>
            <a:r>
              <a:t>CHEATSHEET</a:t>
            </a:r>
          </a:p>
          <a:p>
            <a:r>
              <a:t>+ SUM / AVERAGE</a:t>
            </a:r>
          </a:p>
          <a:p>
            <a:r>
              <a:t>เมื่อไหร่: ต้องการตัวเลข KPI ใหญ่</a:t>
            </a:r>
          </a:p>
          <a:p>
            <a:r>
              <a:t>ประจำวัน เช่น ยอดรวม, AOV,</a:t>
            </a:r>
          </a:p>
          <a:p>
            <a:r>
              <a:t>คะแนนเฉลี่ย</a:t>
            </a:r>
          </a:p>
          <a:p>
            <a:r>
              <a:t>จุดเด่น: เร็ว ชัดเจน ใส่ในสรุปผู้</a:t>
            </a:r>
          </a:p>
          <a:p>
            <a:r>
              <a:t>บริหารได้ทันที</a:t>
            </a:r>
          </a:p>
          <a:p>
            <a:r>
              <a:t> SUMIF / COUNTIF</a:t>
            </a:r>
          </a:p>
          <a:p>
            <a:r>
              <a:t>เมื่อไหร่: ต้องการตัดตัวเลขเฉพาะ</a:t>
            </a:r>
          </a:p>
          <a:p>
            <a:r>
              <a:t>1 เงื่อนไขชัดเจน เช่น ยอดเดลิเวอรี่,</a:t>
            </a:r>
          </a:p>
          <a:p>
            <a:r>
              <a:t>ยอดเฉพาะสมาชิก</a:t>
            </a:r>
          </a:p>
          <a:p>
            <a:r>
              <a:t>จุดเด่น: ไม่ต้องสร้างตารางใหญ่</a:t>
            </a:r>
          </a:p>
          <a:p>
            <a:r>
              <a:t>แค่สูตรช่องเดียว</a:t>
            </a:r>
          </a:p>
          <a:p>
            <a:r>
              <a:t> Pivot Table</a:t>
            </a:r>
          </a:p>
          <a:p>
            <a:r>
              <a:t>เมื่อไหร่: ต้องการสำรวจข้อมูล ตัด</a:t>
            </a:r>
          </a:p>
          <a:p>
            <a:r>
              <a:t>ข้ามมิติ 2 ทางขึ้นไป เพื่อตอบ</a:t>
            </a:r>
          </a:p>
          <a:p>
            <a:r>
              <a:t>คำถามเชิงกลยุทธ์</a:t>
            </a:r>
          </a:p>
          <a:p>
            <a:r>
              <a:t>จุดเด่น: ลาก-วางสลับมิติได้ใน 3</a:t>
            </a:r>
          </a:p>
          <a:p>
            <a:r>
              <a:t>วินาที ไม่มีสูตรพัง</a:t>
            </a:r>
          </a:p>
          <a:p>
            <a:r>
              <a:t> Gemini AI Co-pilot</a:t>
            </a:r>
          </a:p>
          <a:p>
            <a:r>
              <a:t>เมื่อไหร่: ต้องการหา Insight ลึกๆ</a:t>
            </a:r>
          </a:p>
          <a:p>
            <a:r>
              <a:t>ที่เราคิดไม่ถึง หรือขอคำแนะนำ</a:t>
            </a:r>
          </a:p>
          <a:p>
            <a:r>
              <a:t>กลยุทธ์ธุรกิจ</a:t>
            </a:r>
          </a:p>
          <a:p>
            <a:r>
              <a:t>จุดเด่น: คิดและตีความภาษา</a:t>
            </a:r>
          </a:p>
          <a:p>
            <a:r>
              <a:t>ธรรมชาติให้</a:t>
            </a:r>
          </a:p>
          <a:p>
            <a:r>
              <a:t>พลังที่แท้จริงของการเป็นเจ้าของธุรกิจ: คุณไม่จำเป็นต้องเลือกระหว่างสูตร, Pivot Table หรือ AI แต่คุณคือ "กัปตัน" ที่เลือกใช้</a:t>
            </a:r>
          </a:p>
          <a:p>
            <a:r>
              <a:t>เครื่องมือที่ถูกต้องตามระดับความยากของคำถาม!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24 Content]</a:t>
            </a:r>
          </a:p>
          <a:p>
            <a:r>
              <a:t>ภารกิจ Workshop: ปฏิบัติการวิเคราะห์ CRM ร้านกาแฟ</a:t>
            </a:r>
          </a:p>
          <a:p>
            <a:r>
              <a:t>ฝึกจริงกับข้อมูล 1,000 ธุรกรรมของ Toon Coffee House บน Google Sheets</a:t>
            </a:r>
          </a:p>
          <a:p>
            <a:r>
              <a:t>WORKSHOP 65 นาที</a:t>
            </a:r>
          </a:p>
          <a:p>
            <a:r>
              <a:t></a:t>
            </a:r>
          </a:p>
          <a:p>
            <a:r>
              <a:t>Part 1: นำเข้า &amp; สูตรหลัก</a:t>
            </a:r>
          </a:p>
          <a:p>
            <a:r>
              <a:t>นำเข้าไฟล์ CSV สู่ Google Sheets คำนวณหา</a:t>
            </a:r>
          </a:p>
          <a:p>
            <a:r>
              <a:t>ยอดขายรวม (SUM), ยอดเฉลี่ยต่อบิล AOV</a:t>
            </a:r>
          </a:p>
          <a:p>
            <a:r>
              <a:t>(AVERAGE) และนับจำนวนบิล</a:t>
            </a:r>
          </a:p>
          <a:p>
            <a:r>
              <a:t>(COUNT/COUNTA)</a:t>
            </a:r>
          </a:p>
          <a:p>
            <a:r>
              <a:t></a:t>
            </a:r>
          </a:p>
          <a:p>
            <a:r>
              <a:t>Part 2: เจาะจงด้วย SUMIF</a:t>
            </a:r>
          </a:p>
          <a:p>
            <a:r>
              <a:t>คำนวณหายอดขายเฉพาะ "สาขาสยามสแควร์"</a:t>
            </a:r>
          </a:p>
          <a:p>
            <a:r>
              <a:t>และยอดขายเฉพาะกลุ่มลูกค้า "Platinum</a:t>
            </a:r>
          </a:p>
          <a:p>
            <a:r>
              <a:t>Member" บันทึกลงใบงาน</a:t>
            </a:r>
          </a:p>
          <a:p>
            <a:r>
              <a:t></a:t>
            </a:r>
          </a:p>
          <a:p>
            <a:r>
              <a:t>Part 3: ภารกิจ Pivot Table</a:t>
            </a:r>
          </a:p>
          <a:p>
            <a:r>
              <a:t>สร้าง Pivot Table สรุปยอดขายตาม Member</a:t>
            </a:r>
          </a:p>
          <a:p>
            <a:r>
              <a:t>Tier, สร้างตาราง Cross-tab สาขา x หมวดหมู่</a:t>
            </a:r>
          </a:p>
          <a:p>
            <a:r>
              <a:t>สินค้า และเขียนข้อเสนอแนะเชิงธุรกิจ 3 ข้อ</a:t>
            </a:r>
          </a:p>
          <a:p>
            <a:r>
              <a:t>กติกา Workshop: ทำเป็นรายบุคคลหรือคู่ เปิดไฟล์ session-6a-workshop-worksheet ขึ้นมาทำตามทีละขั้นตอน ใครทำเสร็จยกมือให้</a:t>
            </a:r>
          </a:p>
          <a:p>
            <a:r>
              <a:t>อาจารย์ตรวจรับตราประทับคะแนนสะสม 20%</a:t>
            </a:r>
          </a:p>
          <a:p>
            <a:r>
              <a:t> ไฟล์ที่ต้องใช้:</a:t>
            </a:r>
          </a:p>
          <a:p>
            <a:r>
              <a:t>session-6a-coffee-sales-crm.csv (อยู่ในโฟลเดอร์คาบเรียน)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25 Content]</a:t>
            </a:r>
          </a:p>
          <a:p>
            <a:r>
              <a:t>Quiz Game: ทดสอบไหวพริบนักวิเคราะห์ตัวเลข</a:t>
            </a:r>
          </a:p>
          <a:p>
            <a:r>
              <a:t>10 คำถามวัดความเข้าใจบน Quizizz ก่อนลงมือลุย Workshop จริง</a:t>
            </a:r>
          </a:p>
          <a:p>
            <a:r>
              <a:t>10 QUESTIONS</a:t>
            </a:r>
          </a:p>
          <a:p>
            <a:r>
              <a:t> เข้าร่วม Quizizz ประจำคาบ</a:t>
            </a:r>
          </a:p>
          <a:p>
            <a:r>
              <a:t>1. หยิบสมาร์ทโฟนหรือเปิดแท็บใหม่บนคอมพิวเตอร์</a:t>
            </a:r>
          </a:p>
          <a:p>
            <a:r>
              <a:t>2. เข้าเว็บไซต์ joinmyquiz.com</a:t>
            </a:r>
          </a:p>
          <a:p>
            <a:r>
              <a:t>3. ใส่รหัสเกมที่อาจารย์ฉายบนหน้าจอ หรือสแกน QR Code</a:t>
            </a:r>
          </a:p>
          <a:p>
            <a:r>
              <a:t>4. ตั้งชื่อเล่นเป็น รหัสนักศึกษา_ชื่อเล่น</a:t>
            </a:r>
          </a:p>
          <a:p>
            <a:r>
              <a:t>⏱️ เวลา: ข้อละ 60 วินาที ตอบถูกและเร็วได้คะแนนสะสมสูงสุด!</a:t>
            </a:r>
          </a:p>
          <a:p>
            <a:r>
              <a:t> ประเด็นที่ข้อสอบจะทดสอบ:</a:t>
            </a:r>
          </a:p>
          <a:p>
            <a:r>
              <a:t>การเลือกใช้สูตรระหว่าง SUM, AVERAGE, COUNT, COUNTA</a:t>
            </a:r>
          </a:p>
          <a:p>
            <a:r>
              <a:t>ไวยากรณ์ 3 องค์ประกอบของ SUMIF (Range, Criterion,</a:t>
            </a:r>
          </a:p>
          <a:p>
            <a:r>
              <a:t>Sum_range)</a:t>
            </a:r>
          </a:p>
          <a:p>
            <a:r>
              <a:t>หน้าที่ของ 4 กล่องใน Pivot Table (Rows, Columns, Values,</a:t>
            </a:r>
          </a:p>
          <a:p>
            <a:r>
              <a:t>Filters)</a:t>
            </a:r>
          </a:p>
          <a:p>
            <a:r>
              <a:t>การตีความตัวเลข AOV และผลลัพธ์จากการวิเคราะห์ลูกค้า CRM</a:t>
            </a:r>
          </a:p>
          <a:p>
            <a:r>
              <a:t> พร้อมแล้วหรือยัง?</a:t>
            </a:r>
          </a:p>
          <a:p>
            <a:r>
              <a:t>ทุกคนเตรียมตัวเข้าสู่หน้าจอเกม Quizizz ได้เลยครับ!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26 Content]</a:t>
            </a:r>
          </a:p>
          <a:p>
            <a:r>
              <a:t>สรุปบทเรียนสำคัญ &amp; ก้าวต่อไปสู่ Session 7</a:t>
            </a:r>
          </a:p>
          <a:p>
            <a:r>
              <a:t>จากตัวเลขและตาราง สู่การสื่อสารด้วยภาพที่ทรงพลัง (Data Visualization)</a:t>
            </a:r>
          </a:p>
          <a:p>
            <a:r>
              <a:t>SESSION 6A WRAP-UP</a:t>
            </a:r>
          </a:p>
          <a:p>
            <a:r>
              <a:t> 3 หัวใจสำคัญที่ต้องจำจากวันนี้ (Key Takeaways):</a:t>
            </a:r>
          </a:p>
          <a:p>
            <a:r>
              <a:t>Formulas &amp; Functions คืออาวุธเร็ว: SUM, AVERAGE, MIN/MAX, MEDIAN และฟังก์ชันช่วยอย่าง IF, UNIQUE ช่วยสำรวจและคัดกรอง</a:t>
            </a:r>
          </a:p>
          <a:p>
            <a:r>
              <a:t>ข้อมูลได้แม่นยำ</a:t>
            </a:r>
          </a:p>
          <a:p>
            <a:r>
              <a:t>Pivot Table คืออาวุธหนัก: เมื่อต้องการตัดข้อมูลหลายมิติ (Cross-tabulation) ห้ามเขียนสูตรมือ ให้ใช้ 4 กล่อง (Rows, Columns,</a:t>
            </a:r>
          </a:p>
          <a:p>
            <a:r>
              <a:t>Values, Filters) สลับมุมมองได้ทันที</a:t>
            </a:r>
          </a:p>
          <a:p>
            <a:r>
              <a:t>CRM ขับเคลื่อนด้วยพฤติกรรมลูกค้า: ลูกค้าแต่ละ Tier, แต่ละสาขา, และแต่ละช่วงเวลามีพฤติกรรมต่างกันอย่างสิ้นเชิง การวิเคราะห์ช่วยให้เรา</a:t>
            </a:r>
          </a:p>
          <a:p>
            <a:r>
              <a:t>ทำโปรโมชั่นได้ตรงใจ ไม่หว่านแห</a:t>
            </a:r>
          </a:p>
          <a:p>
            <a:r>
              <a:t> ครั้งถัดไป (Session 7): Data Visualization หา Insight ด้วยภาพ</a:t>
            </a:r>
          </a:p>
          <a:p>
            <a:r>
              <a:t>เราจะนำตารางสรุปจาก Pivot Table ในวันนี้ ไปแปลงร่างเป็น กราฟประเภทต่างๆ (Bar, Line, Pie, Scatter) เพื่อเล่าเรื่องให้บอร์ดบริหารและนัก</a:t>
            </a:r>
          </a:p>
          <a:p>
            <a:r>
              <a:t>ลงทุนเข้าใจได้ในเสี้ยววินาที!</a:t>
            </a:r>
          </a:p>
          <a:p>
            <a:r>
              <a:t> ขอบคุณนักศึกษาทุกคน:</a:t>
            </a:r>
          </a:p>
          <a:p>
            <a:r>
              <a:t>ขอให้นำพลังของ Pivot Table ไปสร้างกำไรให้ธุรกิจในอนาคตครับ!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