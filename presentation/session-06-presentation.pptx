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 Content]</a:t>
            </a:r>
          </a:p>
          <a:p>
            <a:r>
              <a:t>ภาคเรียนที่ 1/2569</a:t>
            </a:r>
          </a:p>
          <a:p>
            <a:r>
              <a:t>ครั้งที่ 6 / 14</a:t>
            </a:r>
          </a:p>
          <a:p>
            <a:r>
              <a:t>ขั้นที่ 4 'ANALYZE' (ส่วนที่ 1)</a:t>
            </a:r>
          </a:p>
          <a:p>
            <a:r>
              <a:t>Prompt Engineering สั่ง AI วิเคราะห์ข้อมูลธุรกิจ</a:t>
            </a:r>
          </a:p>
          <a:p>
            <a:r>
              <a:t>ด้วย Gemini</a:t>
            </a:r>
          </a:p>
          <a:p>
            <a:r>
              <a:t>Fundamentals of Data Science (พื้นฐานวิทยาการข้อมูล)</a:t>
            </a:r>
          </a:p>
          <a:p>
            <a:r>
              <a:t>ผู้สอน: อาจารย์สุรชัย โกยสันติสุข | คณะการสร้างเจ้าของธุรกิจ มหาวิทยาลัยศรีปทุม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 Content]</a:t>
            </a:r>
          </a:p>
          <a:p>
            <a:r>
              <a:t>วงจร Data Science: เจาะลึกขั้นที่ 4 'ANALYZE' (AI Copilot)</a:t>
            </a:r>
          </a:p>
          <a:p>
            <a:r>
              <a:t>ก้าวข้ามขีดจำกัดของสูตรคำนวณและชาร์ต สู่การคิดวิเคราะห์หลายมิติด้วย Gemini Advanced</a:t>
            </a:r>
          </a:p>
          <a:p>
            <a:r>
              <a:t>STEP 4 OF 5</a:t>
            </a:r>
          </a:p>
          <a:p>
            <a:r>
              <a:t>STEP 1</a:t>
            </a:r>
          </a:p>
          <a:p>
            <a:r>
              <a:t>ASK</a:t>
            </a:r>
          </a:p>
          <a:p>
            <a:r>
              <a:t>ตั้งคำถามธุรกิจ (Session 1-2)</a:t>
            </a:r>
          </a:p>
          <a:p>
            <a:r>
              <a:t>STEP 2</a:t>
            </a:r>
          </a:p>
          <a:p>
            <a:r>
              <a:t>COLLECT</a:t>
            </a:r>
          </a:p>
          <a:p>
            <a:r>
              <a:t>เก็บข้อมูล Tidy Data (Session</a:t>
            </a:r>
          </a:p>
          <a:p>
            <a:r>
              <a:t>3-4)</a:t>
            </a:r>
          </a:p>
          <a:p>
            <a:r>
              <a:t>STEP 3</a:t>
            </a:r>
          </a:p>
          <a:p>
            <a:r>
              <a:t>PREPARE</a:t>
            </a:r>
          </a:p>
          <a:p>
            <a:r>
              <a:t>ล้างตารางสะอาด (Session 5)</a:t>
            </a:r>
          </a:p>
          <a:p>
            <a:r>
              <a:t>STEP 5</a:t>
            </a:r>
          </a:p>
          <a:p>
            <a:r>
              <a:t>ACT</a:t>
            </a:r>
          </a:p>
          <a:p>
            <a:r>
              <a:t>วางกลยุทธ์ &amp; สรุปผล (Session</a:t>
            </a:r>
          </a:p>
          <a:p>
            <a:r>
              <a:t>8-14)</a:t>
            </a:r>
          </a:p>
          <a:p>
            <a:r>
              <a:t> สิ่งที่เชี่ยวชาญแล้ว (Session 6A &amp; 07)</a:t>
            </a:r>
          </a:p>
          <a:p>
            <a:r>
              <a:t>• สรุปตัวเลขด้วยสูตร SUM, AVERAGE, SUMIF และลาก Pivot Table</a:t>
            </a:r>
          </a:p>
          <a:p>
            <a:r>
              <a:t>ใน Google Sheets</a:t>
            </a:r>
          </a:p>
          <a:p>
            <a:r>
              <a:t>• แปลงข้อมูลเป็น Data Visualization (Bar, Line, Pie, Scatter) มอง</a:t>
            </a:r>
          </a:p>
          <a:p>
            <a:r>
              <a:t>เห็นภาพรวมร้าน</a:t>
            </a:r>
          </a:p>
          <a:p>
            <a:r>
              <a:t>• ข้อจำกัด: ต้องลากวิเคราะห์ทีละมิติ และไม่บอกว่า "ควรวางกลยุทธ์</a:t>
            </a:r>
          </a:p>
          <a:p>
            <a:r>
              <a:t>อย่างไรต่อ"</a:t>
            </a:r>
          </a:p>
          <a:p>
            <a:r>
              <a:t> สิ่งที่จะปลดล็อกวันนี้ (Session 6: Gemini Copilot)</a:t>
            </a:r>
          </a:p>
          <a:p>
            <a:r>
              <a:t>• ส่งไฟล์ Toon Coffee House CRM (1,000 บิล 25 คอลัมน์) ให้</a:t>
            </a:r>
          </a:p>
          <a:p>
            <a:r>
              <a:t>Gemini คิดวิเคราะห์</a:t>
            </a:r>
          </a:p>
          <a:p>
            <a:r>
              <a:t>• ใช้สูตรสั่งงาน C-R-O-D-A บรีฟ AI เสมือนจ้าง Senior F&amp;B Retail</a:t>
            </a:r>
          </a:p>
          <a:p>
            <a:r>
              <a:t>Consultant</a:t>
            </a:r>
          </a:p>
          <a:p>
            <a:r>
              <a:t>• ขุด Hidden Insights, แบ่งเกรดเมนู ABC, เจาะพฤติกรรมลูกค้า VIP</a:t>
            </a:r>
          </a:p>
          <a:p>
            <a:r>
              <a:t>และจำลอง What-If ใน 10 วินาที</a:t>
            </a:r>
          </a:p>
          <a:p>
            <a:r>
              <a:t></a:t>
            </a:r>
          </a:p>
          <a:p>
            <a:r>
              <a:t>กฎทอง AI Copilot: สูตรในชีตบอก "เกิดอะไรขึ้น" (What) กราฟช่วยให้ "มองเห็น" (See) แต่ Gemini บอก "ทำไมถึงเกิดและควรทำอย่างไรต่อ" (Why</a:t>
            </a:r>
          </a:p>
          <a:p>
            <a:r>
              <a:t>&amp; Action) โดยเราต้อง Fact-Check เสมอ!</a:t>
            </a:r>
          </a:p>
          <a:p>
            <a:r>
              <a:t>STEP 4 (วันนี้)</a:t>
            </a:r>
          </a:p>
          <a:p>
            <a:r>
              <a:t>ANALYZE</a:t>
            </a:r>
          </a:p>
          <a:p>
            <a:r>
              <a:t>AI Gemini Copilot (Session 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 Content]</a:t>
            </a:r>
          </a:p>
          <a:p>
            <a:r>
              <a:t>แผนที่การเรียนรู้ประจำคาบ (Session Roadmap)</a:t>
            </a:r>
          </a:p>
          <a:p>
            <a:r>
              <a:t>4 เสาหลักสู่การเป็นเจ้าของธุรกิจผู้สั่งการ AI Gemini วิเคราะห์ข้อมูล Toon Coffee House CRM</a:t>
            </a:r>
          </a:p>
          <a:p>
            <a:r>
              <a:t>150 นาที</a:t>
            </a:r>
          </a:p>
          <a:p>
            <a:r>
              <a:t>1. AI Co-pilot &amp; Data</a:t>
            </a:r>
          </a:p>
          <a:p>
            <a:r>
              <a:t>Ingestion</a:t>
            </a:r>
          </a:p>
          <a:p>
            <a:r>
              <a:t>ทำความรู้จัก Gemini Advanced</a:t>
            </a:r>
          </a:p>
          <a:p>
            <a:r>
              <a:t>และ 3 วิธีป้อนไฟล์ Toon Coffee</a:t>
            </a:r>
          </a:p>
          <a:p>
            <a:r>
              <a:t>House 1,000 บิลเข้าสู่ระบบอย่าง</a:t>
            </a:r>
          </a:p>
          <a:p>
            <a:r>
              <a:t>ถูกต้อง</a:t>
            </a:r>
          </a:p>
          <a:p>
            <a:r>
              <a:t></a:t>
            </a:r>
          </a:p>
          <a:p>
            <a:r>
              <a:t>2. โครงสร้าง C-R-O-D-A</a:t>
            </a:r>
          </a:p>
          <a:p>
            <a:r>
              <a:t>สูตรลับ 5 องค์ประกอบ: Context,</a:t>
            </a:r>
          </a:p>
          <a:p>
            <a:r>
              <a:t>Role, Outline, Direction,</a:t>
            </a:r>
          </a:p>
          <a:p>
            <a:r>
              <a:t>Answer บรีฟ AI ให้ฉลาดระดับมือ</a:t>
            </a:r>
          </a:p>
          <a:p>
            <a:r>
              <a:t>โปร</a:t>
            </a:r>
          </a:p>
          <a:p>
            <a:r>
              <a:t></a:t>
            </a:r>
          </a:p>
          <a:p>
            <a:r>
              <a:t>3. 5 Real-World Prompts</a:t>
            </a:r>
          </a:p>
          <a:p>
            <a:r>
              <a:t>คลังคำสั่งจริง: สรุปผู้บริหาร, จัด</a:t>
            </a:r>
          </a:p>
          <a:p>
            <a:r>
              <a:t>เกรดสินค้า ABC, ขุดพฤติกรรม</a:t>
            </a:r>
          </a:p>
          <a:p>
            <a:r>
              <a:t>ลูกค้า CRM, แผน 30 วัน, และ</a:t>
            </a:r>
          </a:p>
          <a:p>
            <a:r>
              <a:t>จำลอง What-If</a:t>
            </a:r>
          </a:p>
          <a:p>
            <a:r>
              <a:t></a:t>
            </a:r>
          </a:p>
          <a:p>
            <a:r>
              <a:t>4. AI Guardrails &amp; Fact-</a:t>
            </a:r>
          </a:p>
          <a:p>
            <a:r>
              <a:t>Check</a:t>
            </a:r>
          </a:p>
          <a:p>
            <a:r>
              <a:t>ดักจับ AI Hallucination ตรวจคำ</a:t>
            </a:r>
          </a:p>
          <a:p>
            <a:r>
              <a:t>ตอบเทียบสูตร Sheets ใน 1 นาที</a:t>
            </a:r>
          </a:p>
          <a:p>
            <a:r>
              <a:t>พร้อมกฎเหล็กเซนเซอร์ข้อมูล</a:t>
            </a:r>
          </a:p>
          <a:p>
            <a:r>
              <a:t>PDPA</a:t>
            </a:r>
          </a:p>
          <a:p>
            <a:r>
              <a:t>เป้าหมายปลายคาบ: นักศึกษาทุกคนสามารถอัปโหลดไฟล์ Toon Coffee House CRM สั่ง Gemini วิเคราะห์หาโอกาสทำเงิน เสนอแผนธุรกิจ และ</a:t>
            </a:r>
          </a:p>
          <a:p>
            <a:r>
              <a:t>ตรวจทานความถูกต้องได้ด้วยตนเอง!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4 Content]</a:t>
            </a:r>
          </a:p>
          <a:p>
            <a:r>
              <a:t>วิวัฒนาการ: จากการคำนวณด้วยมือ สู่ AI Copilot</a:t>
            </a:r>
          </a:p>
          <a:p>
            <a:r>
              <a:t>เปรียบเทียบเครื่องมือวิเคราะห์ 3 ระดับบนชุดข้อมูล Toon Coffee House CRM</a:t>
            </a:r>
          </a:p>
          <a:p>
            <a:r>
              <a:t>COMPARISON</a:t>
            </a:r>
          </a:p>
          <a:p>
            <a:r>
              <a:t>1. Spreadsheet Formulas</a:t>
            </a:r>
          </a:p>
          <a:p>
            <a:r>
              <a:t>• เครื่องมือ: SUM, AVERAGE, COUNTIF,</a:t>
            </a:r>
          </a:p>
          <a:p>
            <a:r>
              <a:t>SUMIF</a:t>
            </a:r>
          </a:p>
          <a:p>
            <a:r>
              <a:t>• จุดแข็ง: ตัวเลขแม่นยำ 100% คำนวณตามสูตร</a:t>
            </a:r>
          </a:p>
          <a:p>
            <a:r>
              <a:t>คณิตศาสตร์ตายตัว</a:t>
            </a:r>
          </a:p>
          <a:p>
            <a:r>
              <a:t>• จุดติดขัด: ต้องจำไวยากรณ์สูตร คำนวณได้ทีละ</a:t>
            </a:r>
          </a:p>
          <a:p>
            <a:r>
              <a:t>เงื่อนไข หากต้องการดู 3 มิติพร้อมกันจะซับซ้อน</a:t>
            </a:r>
          </a:p>
          <a:p>
            <a:r>
              <a:t>มาก</a:t>
            </a:r>
          </a:p>
          <a:p>
            <a:r>
              <a:t>2. Pivot Table &amp; Charts</a:t>
            </a:r>
          </a:p>
          <a:p>
            <a:r>
              <a:t>• เครื่องมือ: 4 Magic Boxes + Bar/Line</a:t>
            </a:r>
          </a:p>
          <a:p>
            <a:r>
              <a:t>Charts</a:t>
            </a:r>
          </a:p>
          <a:p>
            <a:r>
              <a:t>• จุดแข็ง: ลากสลับแกนสรุปข้ามมิติได้เร็ว (เช่น</a:t>
            </a:r>
          </a:p>
          <a:p>
            <a:r>
              <a:t>สาขา x สมาชิก) เห็นสัดส่วนชัดเจน</a:t>
            </a:r>
          </a:p>
          <a:p>
            <a:r>
              <a:t>• จุดติดขัด: มนุษย์ต้องคิดสมมติฐานเอง และ</a:t>
            </a:r>
          </a:p>
          <a:p>
            <a:r>
              <a:t>Pivot Table ไม่สามารถ "อธิบายเหตุผลและร่าง</a:t>
            </a:r>
          </a:p>
          <a:p>
            <a:r>
              <a:t>แผนกลยุทธ์" ให้เราได้</a:t>
            </a:r>
          </a:p>
          <a:p>
            <a:r>
              <a:t>3. Gemini Advanced</a:t>
            </a:r>
          </a:p>
          <a:p>
            <a:r>
              <a:t>• เครื่องมือ: Generative AI + Python</a:t>
            </a:r>
          </a:p>
          <a:p>
            <a:r>
              <a:t>Interpreter</a:t>
            </a:r>
          </a:p>
          <a:p>
            <a:r>
              <a:t>• จุดแข็ง: ประมวลผล 25 คอลัมน์พร้อมกัน สรุป</a:t>
            </a:r>
          </a:p>
          <a:p>
            <a:r>
              <a:t>ภาษาธุรกิจ ค้นหาความสัมพันธ์ซ่อนเร้น และ</a:t>
            </a:r>
          </a:p>
          <a:p>
            <a:r>
              <a:t>จำลอง What-If ทันที</a:t>
            </a:r>
          </a:p>
          <a:p>
            <a:r>
              <a:t>• จุดระวัง: อาจมโนตัวเลข (ต้องใช้ Level 1-2 มา</a:t>
            </a:r>
          </a:p>
          <a:p>
            <a:r>
              <a:t>กำกับตรวจสอบ!)</a:t>
            </a:r>
          </a:p>
          <a:p>
            <a:r>
              <a:t>หัวใจสำคัญ: เราไม่ได้ทิ้ง Google Sheets แต่เราใช้ Gemini เป็น "หัวหน้าทีมวิเคราะห์" และใช้ Sheets เป็น "เครื่องมือตรวจสอบความจริง"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5 Content]</a:t>
            </a:r>
          </a:p>
          <a:p>
            <a:r>
              <a:t>ทำไมต้อง Gemini Advanced สำหรับเจ้าของธุรกิจ?</a:t>
            </a:r>
          </a:p>
          <a:p>
            <a:r>
              <a:t>ขุมพลังวิเคราะห์ข้อมูลธุรกิจขนาดใหญ่ด้วยโมเดลภาษาและ Python ในตัว</a:t>
            </a:r>
          </a:p>
          <a:p>
            <a:r>
              <a:t>AI ENGINE</a:t>
            </a:r>
          </a:p>
          <a:p>
            <a:r>
              <a:t></a:t>
            </a:r>
          </a:p>
          <a:p>
            <a:r>
              <a:t>1. Massive Context Window</a:t>
            </a:r>
          </a:p>
          <a:p>
            <a:r>
              <a:t>รองรับหน้าต่างบริบทมหาศาล (1M+ Tokens)</a:t>
            </a:r>
          </a:p>
          <a:p>
            <a:r>
              <a:t>สามารถอ่านไฟล์ Toon Coffee House 1,000</a:t>
            </a:r>
          </a:p>
          <a:p>
            <a:r>
              <a:t>แถว 25 คอลัมน์ ได้ครบถ้วนทุกเซลล์ ไม่ตัดทอน</a:t>
            </a:r>
          </a:p>
          <a:p>
            <a:r>
              <a:t>ข้อมูล ไม่ลืมหัวตาราง</a:t>
            </a:r>
          </a:p>
          <a:p>
            <a:r>
              <a:t></a:t>
            </a:r>
          </a:p>
          <a:p>
            <a:r>
              <a:t>2. Built-in Code Execution</a:t>
            </a:r>
          </a:p>
          <a:p>
            <a:r>
              <a:t>มี Python Sandbox ทำงานอยู่เบื้องหลัง เมื่อเรา</a:t>
            </a:r>
          </a:p>
          <a:p>
            <a:r>
              <a:t>สั่งคำนวณ Gemini จะเขียนโค้ดรัน Group By,</a:t>
            </a:r>
          </a:p>
          <a:p>
            <a:r>
              <a:t>Pivot, และกรองตัวเลขจริง ช่วยลดโอกาสเดา</a:t>
            </a:r>
          </a:p>
          <a:p>
            <a:r>
              <a:t>ตัวเลขผิดได้อย่างยอดเยี่ยม</a:t>
            </a:r>
          </a:p>
          <a:p>
            <a:r>
              <a:t></a:t>
            </a:r>
          </a:p>
          <a:p>
            <a:r>
              <a:t>3. Natural Business Thinking</a:t>
            </a:r>
          </a:p>
          <a:p>
            <a:r>
              <a:t>เข้าใจภาษาไทยและบริบทการค้าปลีก F&amp;B สรุป</a:t>
            </a:r>
          </a:p>
          <a:p>
            <a:r>
              <a:t>Insight ออกมาเป็น ภาษาเจ้าของร้าน พร้อมข้อ</a:t>
            </a:r>
          </a:p>
          <a:p>
            <a:r>
              <a:t>เสนอแนะเชิงกลยุทธ์ที่นำไปสั่งการลูกน้องได้ทันที</a:t>
            </a:r>
          </a:p>
          <a:p>
            <a:r>
              <a:t></a:t>
            </a:r>
          </a:p>
          <a:p>
            <a:r>
              <a:t>สิทธิพิเศษนักศึกษา: ทุกคนมีสิทธิ์ใช้งาน Gemini Advanced (Student Offer) ผ่านอีเมลสถาบัน ทำให้เราสามารถเข้าถึงโมเดลที่ดีที่สุดได้ฟรีตลอด</a:t>
            </a:r>
          </a:p>
          <a:p>
            <a:r>
              <a:t>ภาคเรียน!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6 Content]</a:t>
            </a:r>
          </a:p>
          <a:p>
            <a:r>
              <a:t>3 วิธีส่งข้อมูล Toon Coffee House ให้ Gemini อ่าน</a:t>
            </a:r>
          </a:p>
          <a:p>
            <a:r>
              <a:t>เลือกวิธีนำเข้าข้อมูลที่เหมาะกับรูปแบบการทำงานและความสะดวกรวดเร็ว</a:t>
            </a:r>
          </a:p>
          <a:p>
            <a:r>
              <a:t>DATA INGESTION</a:t>
            </a:r>
          </a:p>
          <a:p>
            <a:r>
              <a:t>วิธีที่ 1 (แนะนำที่สุด)</a:t>
            </a:r>
          </a:p>
          <a:p>
            <a:r>
              <a:t> แนบไฟล์ .xlsx หรือ .csv</a:t>
            </a:r>
          </a:p>
          <a:p>
            <a:r>
              <a:t>• กดปุ่มเครื่องหมาย + ใน Gemini แล้วอัปโหลด</a:t>
            </a:r>
          </a:p>
          <a:p>
            <a:r>
              <a:t>ไฟล์ session-6a-coffee-sales-crm.xlsx</a:t>
            </a:r>
          </a:p>
          <a:p>
            <a:r>
              <a:t>• AI จะสแกนอ่านตาราง 1,000 แถวด้วย Python</a:t>
            </a:r>
          </a:p>
          <a:p>
            <a:r>
              <a:t>ทันที</a:t>
            </a:r>
          </a:p>
          <a:p>
            <a:r>
              <a:t>• เหมาะสำหรับ: การวิเคราะห์เชิงลึก ข้อมูลมีหลาย</a:t>
            </a:r>
          </a:p>
          <a:p>
            <a:r>
              <a:t>คอลัมน์</a:t>
            </a:r>
          </a:p>
          <a:p>
            <a:r>
              <a:t>วิธีที่ 2</a:t>
            </a:r>
          </a:p>
          <a:p>
            <a:r>
              <a:t> ดึงผ่าน @Google Drive</a:t>
            </a:r>
          </a:p>
          <a:p>
            <a:r>
              <a:t>• บันทึกไฟล์ไว้ใน Google Drive แล้วพิมพ์</a:t>
            </a:r>
          </a:p>
          <a:p>
            <a:r>
              <a:t>@Google Drive ค้นหา Toon Coffee</a:t>
            </a:r>
          </a:p>
          <a:p>
            <a:r>
              <a:t>House ในกล่องแชท</a:t>
            </a:r>
          </a:p>
          <a:p>
            <a:r>
              <a:t>• ดึงข้อมูลสดจากชีตได้โดยตรง</a:t>
            </a:r>
          </a:p>
          <a:p>
            <a:r>
              <a:t>• เหมาะสำหรับ: ร้านที่มีการอัปเดตยอดขายใหม่ทุก</a:t>
            </a:r>
          </a:p>
          <a:p>
            <a:r>
              <a:t>วัน</a:t>
            </a:r>
          </a:p>
          <a:p>
            <a:r>
              <a:t>วิธีที่ 3</a:t>
            </a:r>
          </a:p>
          <a:p>
            <a:r>
              <a:t> ก๊อปปี้สรุป Pivot Table มาแปะ</a:t>
            </a:r>
          </a:p>
          <a:p>
            <a:r>
              <a:t>• คัดลอกตารางสรุปจาก Session 6A (เช่น ยอด</a:t>
            </a:r>
          </a:p>
          <a:p>
            <a:r>
              <a:t>ขายแยก 4 สาขา) วางลงในแชทโดยตรง</a:t>
            </a:r>
          </a:p>
          <a:p>
            <a:r>
              <a:t>• ข้อมูลมีขนาดเล็ก ประมวลผลไวทันใจ</a:t>
            </a:r>
          </a:p>
          <a:p>
            <a:r>
              <a:t>• เหมาะสำหรับ: การขอไอเดียกลยุทธ์แบบเร่งด่วน</a:t>
            </a:r>
          </a:p>
          <a:p>
            <a:r>
              <a:t>เฉพาะประเด็น</a:t>
            </a:r>
          </a:p>
          <a:p>
            <a:r>
              <a:t></a:t>
            </a:r>
          </a:p>
          <a:p>
            <a:r>
              <a:t>ข้อปฏิบัติใน Workshop วันนี้: เราจะใช้ วิธีที่ 1 (แนบไฟล์ .xlsx โดยตรง) เพื่อให้นักศึกษาได้ฝึกรีดศักยภาพของ AI ในการวิเคราะห์ข้อมูลดิบ 1,000</a:t>
            </a:r>
          </a:p>
          <a:p>
            <a:r>
              <a:t>รายการอย่างเต็มรูปแบบ!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7 Content]</a:t>
            </a:r>
          </a:p>
          <a:p>
            <a:r>
              <a:t>ทำไมไฟล์ Toon Coffee House ถึงเป็น "ขุมทรัพย์ Tidy Data"?</a:t>
            </a:r>
          </a:p>
          <a:p>
            <a:r>
              <a:t>ทบทวนกฎ Tidy Data จาก Session 4: ความพร้อมของข้อมูลคือต้นทางของความฉลาดของ AI</a:t>
            </a:r>
          </a:p>
          <a:p>
            <a:r>
              <a:t>TIDY DATA</a:t>
            </a:r>
          </a:p>
          <a:p>
            <a:r>
              <a:t>Transaction_ID</a:t>
            </a:r>
          </a:p>
          <a:p>
            <a:r>
              <a:t>Date</a:t>
            </a:r>
          </a:p>
          <a:p>
            <a:r>
              <a:t>Customer_Name</a:t>
            </a:r>
          </a:p>
          <a:p>
            <a:r>
              <a:t>Member_Tier</a:t>
            </a:r>
          </a:p>
          <a:p>
            <a:r>
              <a:t>Branch</a:t>
            </a:r>
          </a:p>
          <a:p>
            <a:r>
              <a:t>Product_Name</a:t>
            </a:r>
          </a:p>
          <a:p>
            <a:r>
              <a:t>Sweetness</a:t>
            </a:r>
          </a:p>
          <a:p>
            <a:r>
              <a:t>Net_Amount</a:t>
            </a:r>
          </a:p>
          <a:p>
            <a:r>
              <a:t>TXN-2026-0001</a:t>
            </a:r>
          </a:p>
          <a:p>
            <a:r>
              <a:t>2026-01-01</a:t>
            </a:r>
          </a:p>
          <a:p>
            <a:r>
              <a:t>โดราเอมอน</a:t>
            </a:r>
          </a:p>
          <a:p>
            <a:r>
              <a:t>Platinum</a:t>
            </a:r>
          </a:p>
          <a:p>
            <a:r>
              <a:t>สาขาสยามสแควร์</a:t>
            </a:r>
          </a:p>
          <a:p>
            <a:r>
              <a:t>Iced Cafe Latte (L)</a:t>
            </a:r>
          </a:p>
          <a:p>
            <a:r>
              <a:t>50% (หวานน้อย)</a:t>
            </a:r>
          </a:p>
          <a:p>
            <a:r>
              <a:t>85.00</a:t>
            </a:r>
          </a:p>
          <a:p>
            <a:r>
              <a:t>TXN-2026-0002</a:t>
            </a:r>
          </a:p>
          <a:p>
            <a:r>
              <a:t>2026-01-01</a:t>
            </a:r>
          </a:p>
          <a:p>
            <a:r>
              <a:t>จิฮิโระ</a:t>
            </a:r>
          </a:p>
          <a:p>
            <a:r>
              <a:t>Regular</a:t>
            </a:r>
          </a:p>
          <a:p>
            <a:r>
              <a:t>สาขาอารีย์</a:t>
            </a:r>
          </a:p>
          <a:p>
            <a:r>
              <a:t>Signature Cold Brew</a:t>
            </a:r>
          </a:p>
          <a:p>
            <a:r>
              <a:t>0% (ไม่หวาน)</a:t>
            </a:r>
          </a:p>
          <a:p>
            <a:r>
              <a:t>105.00</a:t>
            </a:r>
          </a:p>
          <a:p>
            <a:r>
              <a:t>TXN-2026-0003</a:t>
            </a:r>
          </a:p>
          <a:p>
            <a:r>
              <a:t>2026-01-01</a:t>
            </a:r>
          </a:p>
          <a:p>
            <a:r>
              <a:t>ลูกค้าทั่วไป</a:t>
            </a:r>
          </a:p>
          <a:p>
            <a:r>
              <a:t>Non-Member</a:t>
            </a:r>
          </a:p>
          <a:p>
            <a:r>
              <a:t>สาขาลาดพร้าว</a:t>
            </a:r>
          </a:p>
          <a:p>
            <a:r>
              <a:t>Butter Croissant</a:t>
            </a:r>
          </a:p>
          <a:p>
            <a:r>
              <a:t>-</a:t>
            </a:r>
          </a:p>
          <a:p>
            <a:r>
              <a:t>75.00</a:t>
            </a:r>
          </a:p>
          <a:p>
            <a:r>
              <a:t> 1 แถว = 1 รายการขาย</a:t>
            </a:r>
          </a:p>
          <a:p>
            <a:r>
              <a:t>บันทึกยอดขายทีละชิ้น ไม่มีบิลซ้อนบิล ทำให้ AI นับ</a:t>
            </a:r>
          </a:p>
          <a:p>
            <a:r>
              <a:t>จำนวนออเดอร์และคำนวณ AOV ได้แม่นยำ</a:t>
            </a:r>
          </a:p>
          <a:p>
            <a:r>
              <a:t> 1 คอลัมน์ = 1 ตัวแปร</a:t>
            </a:r>
          </a:p>
          <a:p>
            <a:r>
              <a:t>แยกชัดเจน: วันที่, ลูกค้า, สาขา, เมนู, ความหวาน,</a:t>
            </a:r>
          </a:p>
          <a:p>
            <a:r>
              <a:t>ยอดเงิน ทำให้ AI สั่ง Group By ได้ทุกมิติ</a:t>
            </a:r>
          </a:p>
          <a:p>
            <a:r>
              <a:t> ไม่มีขยะในตาราง</a:t>
            </a:r>
          </a:p>
          <a:p>
            <a:r>
              <a:t>ไม่มีแถวรวมยอดคั่นกลาง ไม่มีเซลล์ผสาน</a:t>
            </a:r>
          </a:p>
          <a:p>
            <a:r>
              <a:t>(Merged Cells) AI อ่านแถวข้อมูลได้รวดเร็วไม่</a:t>
            </a:r>
          </a:p>
          <a:p>
            <a:r>
              <a:t>สะดุด</a:t>
            </a:r>
          </a:p>
          <a:p>
            <a:r>
              <a:t>ข้อเตือนใจ: ถ้าตารางของเราไม่ Clean หรือไม่ใช่ Tidy Data ตั้งแต่แรก AI จะอ่านผิดแถว และคำนวณตัวเลขผิดเพี้ยนทันที (Garbage In, Garbage</a:t>
            </a:r>
          </a:p>
          <a:p>
            <a:r>
              <a:t>Out)!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8 Content]</a:t>
            </a:r>
          </a:p>
          <a:p>
            <a:r>
              <a:t>สูตรสั่งงาน C-R-O-D-A: บรีฟ Gemini ให้ฉลาดระดับมือโปร</a:t>
            </a:r>
          </a:p>
          <a:p>
            <a:r>
              <a:t>โครงสร้าง 5 องค์ประกอบที่เปลี่ยน Prompt ธรรมดาให้กลายเป็นการสั่งงานที่ปรึกษาธุรกิจ</a:t>
            </a:r>
          </a:p>
          <a:p>
            <a:r>
              <a:t>FRAMEWORK</a:t>
            </a:r>
          </a:p>
          <a:p>
            <a:r>
              <a:t>C</a:t>
            </a:r>
          </a:p>
          <a:p>
            <a:r>
              <a:t>Context</a:t>
            </a:r>
          </a:p>
          <a:p>
            <a:r>
              <a:t>เล่าที่มาร้านกาแฟ 4 สาขา ลูกค้า</a:t>
            </a:r>
          </a:p>
          <a:p>
            <a:r>
              <a:t>50 ตัวการ์ตูน</a:t>
            </a:r>
          </a:p>
          <a:p>
            <a:r>
              <a:t>R</a:t>
            </a:r>
          </a:p>
          <a:p>
            <a:r>
              <a:t>Role</a:t>
            </a:r>
          </a:p>
          <a:p>
            <a:r>
              <a:t>สวมบทบาท Senior F&amp;B</a:t>
            </a:r>
          </a:p>
          <a:p>
            <a:r>
              <a:t>Retail Consultant</a:t>
            </a:r>
          </a:p>
          <a:p>
            <a:r>
              <a:t>O</a:t>
            </a:r>
          </a:p>
          <a:p>
            <a:r>
              <a:t>Outline</a:t>
            </a:r>
          </a:p>
          <a:p>
            <a:r>
              <a:t>ระบุคอลัมน์สำคัญ เช่น</a:t>
            </a:r>
          </a:p>
          <a:p>
            <a:r>
              <a:t>Net_Amount, Tier</a:t>
            </a:r>
          </a:p>
          <a:p>
            <a:r>
              <a:t>D</a:t>
            </a:r>
          </a:p>
          <a:p>
            <a:r>
              <a:t>Direction</a:t>
            </a:r>
          </a:p>
          <a:p>
            <a:r>
              <a:t>สั่งงานเจาะจง 3-4 ข้อ ไม่</a:t>
            </a:r>
          </a:p>
          <a:p>
            <a:r>
              <a:t>อ้อมค้อม</a:t>
            </a:r>
          </a:p>
          <a:p>
            <a:r>
              <a:t>A</a:t>
            </a:r>
          </a:p>
          <a:p>
            <a:r>
              <a:t>Answer</a:t>
            </a:r>
          </a:p>
          <a:p>
            <a:r>
              <a:t>กำหนดทรงคำตอบ ตาราง และ</a:t>
            </a:r>
          </a:p>
          <a:p>
            <a:r>
              <a:t>กฎห้ามมโน</a:t>
            </a:r>
          </a:p>
          <a:p>
            <a:r>
              <a:t>ทำไมต้องมี C-R-O-D-A ครบทั้ง 5 ส่วน? เพราะถ้าขาด Context AI จะตอบไม่เข้ากับร้าน, ถ้าขาด Outline AI จะหยิบคอลัมน์ผิด, และถ้าขาด</a:t>
            </a:r>
          </a:p>
          <a:p>
            <a:r>
              <a:t>Answer AI จะมโนตัวเลขขึ้นมาเอง!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9 Content]</a:t>
            </a:r>
          </a:p>
          <a:p>
            <a:r>
              <a:t>องค์ประกอบที่ 2: Context (เล่าว่าร้านเราทำอะไร)</a:t>
            </a:r>
          </a:p>
          <a:p>
            <a:r>
              <a:t>AI ฉลาดแค่ไหนก็ตอบไม่โดนใจ หากไม่รู้บริบทของร้าน Toon Coffee House</a:t>
            </a:r>
          </a:p>
          <a:p>
            <a:r>
              <a:t>'C' IN CRODA</a:t>
            </a:r>
          </a:p>
          <a:p>
            <a:r>
              <a:t></a:t>
            </a:r>
          </a:p>
          <a:p>
            <a:r>
              <a:t>ทำไม Context ถึงสำคัญ? ถ้าไม่บอกว่ามี 4 สาขา AI จะไม่เปรียบเทียบสยามกับลาดพร้าว ถ้าไม่บอกว่ามีสินค้า Merchandise AI จะไม่รู้ว่าแก้วน้ำอนิเมะ</a:t>
            </a:r>
          </a:p>
          <a:p>
            <a:r>
              <a:t>ราคา 390 บาทคือสินค้าของที่ระลึก!</a:t>
            </a:r>
          </a:p>
          <a:p>
            <a:r>
              <a:t>CONTEXT_BUILDER.TXT</a:t>
            </a:r>
          </a:p>
          <a:p>
            <a:r>
              <a:t>[บริบทธุรกิจร้าน Toon Coffee House]:</a:t>
            </a:r>
          </a:p>
          <a:p>
            <a:r>
              <a:t>• ร้านของเราชื่อ "Toon Coffee House" เป็นคาเฟ่เครื่องดื่มและเบเกอรี่ธีมการ์ตูนอนิเมะ</a:t>
            </a:r>
          </a:p>
          <a:p>
            <a:r>
              <a:t>• ปัจจุบันมี 4 สาขาในกรุงเทพฯ (สยามสแควร์, อารีย์, ทองหล่อ, ลาดพร้าว)</a:t>
            </a:r>
          </a:p>
          <a:p>
            <a:r>
              <a:t>• มีระบบสมาชิก 4 ระดับ: Platinum, Gold, Silver, Regular และมีลูกค้าทั่วไป Walk-in</a:t>
            </a:r>
          </a:p>
          <a:p>
            <a:r>
              <a:t>• ขายผ่าน 3 ช่องทาง: ทานที่ร้าน (Dine-in), ซื้อกลับ (Takeaway), และเดลิเวอรี่ (Delivery)</a:t>
            </a:r>
          </a:p>
          <a:p>
            <a:r>
              <a:t>• มีสินค้า 4 หมวด: Coffee, Non-Coffee, Bakery, Merchandise</a:t>
            </a:r>
          </a:p>
          <a:p>
            <a:r>
              <a:t>• ข้อมูลในไฟล์นี้เป็นยอดขายจริง Q1/2026 รวม 1,000 รายการ (126,375.75 บาท)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10 Content]</a:t>
            </a:r>
          </a:p>
          <a:p>
            <a:r>
              <a:t>องค์ประกอบที่ 1: Role (บอกว่าเขาเป็นใคร)</a:t>
            </a:r>
          </a:p>
          <a:p>
            <a:r>
              <a:t>สวมบทบาทผู้เชี่ยวชาญเฉพาะด้าน ดึงพลังความคิดและชุดคำศัพท์ระดับมือโปรออกมาตอบ</a:t>
            </a:r>
          </a:p>
          <a:p>
            <a:r>
              <a:t>'R' IN CRODA</a:t>
            </a:r>
          </a:p>
          <a:p>
            <a:r>
              <a:t> แบบทั่วไป (ไม่มี Role / ไม่ชัดเจน)</a:t>
            </a:r>
          </a:p>
          <a:p>
            <a:r>
              <a:t>"ช่วยวิเคราะห์ยอดขายร้านกาแฟให้หน่อย..."</a:t>
            </a:r>
          </a:p>
          <a:p>
            <a:r>
              <a:t>ผลลัพธ์: AI จะตอบเหมือนครูสอนการบ้าน หรือแชทบอทตอบคำถาม</a:t>
            </a:r>
          </a:p>
          <a:p>
            <a:r>
              <a:t>ทั่วไป ใช้คำกว้างๆ ไม่มีมุมมองทางการเงินหรือการตลาดจริง</a:t>
            </a:r>
          </a:p>
          <a:p>
            <a:r>
              <a:t> แบบมืออาชีพ (เจาะจง Role ด้านธุรกิจ)</a:t>
            </a:r>
          </a:p>
          <a:p>
            <a:r>
              <a:t>"ในฐานะ Senior F&amp;B Business Strategist และ Retail Data</a:t>
            </a:r>
          </a:p>
          <a:p>
            <a:r>
              <a:t>Analyst ผู้เชี่ยวชาญการบริหารเชนร้านกาแฟในไทย..."</a:t>
            </a:r>
          </a:p>
          <a:p>
            <a:r>
              <a:t>ผลลัพธ์: AI จะปรับชุดความคิดทันที มองเรื่อง AOV, Gross Margin,</a:t>
            </a:r>
          </a:p>
          <a:p>
            <a:r>
              <a:t>Churn Rate และออกกลยุทธ์แบบผู้บริหาร</a:t>
            </a:r>
          </a:p>
          <a:p>
            <a:r>
              <a:t>ตัวอย่าง Role ยอดนิยมสำหรับร้านกาแฟ:</a:t>
            </a:r>
          </a:p>
          <a:p>
            <a:r>
              <a:t>F&amp;B Retail Strategist</a:t>
            </a:r>
          </a:p>
          <a:p>
            <a:r>
              <a:t>CRM &amp; Loyalty Program Specialist</a:t>
            </a:r>
          </a:p>
          <a:p>
            <a:r>
              <a:t>Menu Engineering Consultant</a:t>
            </a:r>
          </a:p>
          <a:p>
            <a:r>
              <a:t>Chief Financial Officer (CFO)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11 Content]</a:t>
            </a:r>
          </a:p>
          <a:p>
            <a:r>
              <a:t>องค์ประกอบที่ 3: Outline / Data (บอกหน้าตาคอลัมน์)</a:t>
            </a:r>
          </a:p>
          <a:p>
            <a:r>
              <a:t>AI มองไม่เห็นภาพในหัวเรา ต้องกำกับคอลัมน์สำคัญจาก 25 คอลัมน์ให้แม่นยำ</a:t>
            </a:r>
          </a:p>
          <a:p>
            <a:r>
              <a:t>'O' IN CRODA</a:t>
            </a:r>
          </a:p>
          <a:p>
            <a:r>
              <a:t> คอลัมน์ด้านยอดเงิน &amp; สินค้า</a:t>
            </a:r>
          </a:p>
          <a:p>
            <a:r>
              <a:t>• Net_Amount: ยอดเงินสุทธิหลังหักส่วนลด (ใช้คอลัมน์นี้คำนวณยอดขาย</a:t>
            </a:r>
          </a:p>
          <a:p>
            <a:r>
              <a:t>เสมอ!)</a:t>
            </a:r>
          </a:p>
          <a:p>
            <a:r>
              <a:t>• Subtotal &amp; Discount_Baht: ยอดก่อนลดและส่วนลด</a:t>
            </a:r>
          </a:p>
          <a:p>
            <a:r>
              <a:t>• Product_Category: หมวดสินค้า (Coffee, Non-Coffee, Bakery,</a:t>
            </a:r>
          </a:p>
          <a:p>
            <a:r>
              <a:t>Merchandise)</a:t>
            </a:r>
          </a:p>
          <a:p>
            <a:r>
              <a:t>• Sweetness_Level: ระดับความหวาน (0%, 25%, 50%, 100%)</a:t>
            </a:r>
          </a:p>
          <a:p>
            <a:r>
              <a:t> คอลัมน์ด้าน CRM &amp; สาขา</a:t>
            </a:r>
          </a:p>
          <a:p>
            <a:r>
              <a:t>• Customer_ID &amp; Customer_Name: รหัสและชื่อตัวการ์ตูน 50 คน</a:t>
            </a:r>
          </a:p>
          <a:p>
            <a:r>
              <a:t>• Member_Tier: ระดับสมาชิก (Platinum, Gold, Silver, Regular)</a:t>
            </a:r>
          </a:p>
          <a:p>
            <a:r>
              <a:t>• Branch: สาขา (สยามสแควร์, อารีย์, ทองหล่อ, ลาดพร้าว)</a:t>
            </a:r>
          </a:p>
          <a:p>
            <a:r>
              <a:t>• Sales_Channel: ช่องทาง (หน้าร้าน, ซื้อกลับ, เดลิเวอรี่)</a:t>
            </a:r>
          </a:p>
          <a:p>
            <a:r>
              <a:t>• Rating_Score: คะแนนรีวิวความพึงพอใจ (1 ถึง 5 ดาว)</a:t>
            </a:r>
          </a:p>
          <a:p>
            <a:r>
              <a:t>กฎเหล็กกันพลาด: กำชับ AI เสมอว่า "ให้คำนวณยอดขายจากคอลัมน์ Net_Amount เท่านั้น ห้ามใช้ Subtotal หรือ Unit_Price" เพื่อป้องกันการคำนวณ</a:t>
            </a:r>
          </a:p>
          <a:p>
            <a:r>
              <a:t>ยอดขายเกินจริงก่อนหักส่วนลด!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12 Content]</a:t>
            </a:r>
          </a:p>
          <a:p>
            <a:r>
              <a:t>องค์ประกอบที่ 4: Direction / Task (สั่งงานให้ตรงจุด)</a:t>
            </a:r>
          </a:p>
          <a:p>
            <a:r>
              <a:t>สั่งทีละประเด็น ชัดเจน ไม่อ้อมค้อม บอกสิ่งที่อยากรู้ตรงๆ เป็นข้อๆ</a:t>
            </a:r>
          </a:p>
          <a:p>
            <a:r>
              <a:t>'D' IN CRODA</a:t>
            </a:r>
          </a:p>
          <a:p>
            <a:r>
              <a:t> สั่งกว้างๆ คลุมเครือ (Bad Direction)</a:t>
            </a:r>
          </a:p>
          <a:p>
            <a:r>
              <a:t>❌ "ดูให้หน่อยว่ายอดขายเป็นยังไงบ้าง มีอะไรน่าสนใจไหม"</a:t>
            </a:r>
          </a:p>
          <a:p>
            <a:r>
              <a:t>ปัญหา: AI จะสุ่มเรื่องมาตอบ อาจหยิบสถิติไม่สำคัญมาพูด ตอบยาวเป็นน้ำ</a:t>
            </a:r>
          </a:p>
          <a:p>
            <a:r>
              <a:t>แต่ไม่มีตัวเลขที่เราต้องการตัดสินใจ</a:t>
            </a:r>
          </a:p>
          <a:p>
            <a:r>
              <a:t> สั่งตรงเป้า เป็นข้อย่อย (Good Direction)</a:t>
            </a:r>
          </a:p>
          <a:p>
            <a:r>
              <a:t>✔️ โปรดปฏิบัติตาม 4 ภารกิจต่อไปนี้:</a:t>
            </a:r>
          </a:p>
          <a:p>
            <a:r>
              <a:t>1. คำนวณยอดขายสุทธิรวม และสัดส่วนยอดขายแบ่งตาม 4 สาขา</a:t>
            </a:r>
          </a:p>
          <a:p>
            <a:r>
              <a:t>2. จัดอันดับ 3 เมนูที่ขายดีสุด และ 3 เมนูที่ขายช้าสุดในหมวด Bakery</a:t>
            </a:r>
          </a:p>
          <a:p>
            <a:r>
              <a:t>3. เปรียบเทียบยอดใช้จ่ายเฉลี่ยระหว่างลูกค้าสมาชิก vs ลูกค้าทั่วไป</a:t>
            </a:r>
          </a:p>
          <a:p>
            <a:r>
              <a:t>4. ระบุสาขาที่มีคะแนน Rating ต่ำสุด พร้อมระบุสาเหตุ</a:t>
            </a:r>
          </a:p>
          <a:p>
            <a:r>
              <a:t>เคล็ดลับ: สั่งเป็นข้อ 1, 2, 3 ชัดเจน ช่วยบังคับให้ AI ตอบครบทุกหัวข้อโดยไม่ตกหล่น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13 Content]</a:t>
            </a:r>
          </a:p>
          <a:p>
            <a:r>
              <a:t>องค์ประกอบที่ 5: Answer / Format (บอกทรงคำตอบ &amp; กฎห้ามเดา)</a:t>
            </a:r>
          </a:p>
          <a:p>
            <a:r>
              <a:t>กำหนดโครงสร้างผลลัพธ์ที่ต้องการพร้อมใช้ และวางกรอบป้องกัน AI คิดตัวเลขขึ้นเอง</a:t>
            </a:r>
          </a:p>
          <a:p>
            <a:r>
              <a:t>'A' IN CRODA</a:t>
            </a:r>
          </a:p>
          <a:p>
            <a:r>
              <a:t> 1. กำหนดรูปแบบตาราง</a:t>
            </a:r>
          </a:p>
          <a:p>
            <a:r>
              <a:t>"แสดงผลเปรียบเทียบในรูปแบบ Markdown</a:t>
            </a:r>
          </a:p>
          <a:p>
            <a:r>
              <a:t>Table โดยมีคอลัมน์: สาขา | ยอดขายสุทธิ (บาท) |</a:t>
            </a:r>
          </a:p>
          <a:p>
            <a:r>
              <a:t>สัดส่วน % | บิลเฉลี่ย | Rating"</a:t>
            </a:r>
          </a:p>
          <a:p>
            <a:r>
              <a:t> 2. กำหนดทรงสรุป Insight</a:t>
            </a:r>
          </a:p>
          <a:p>
            <a:r>
              <a:t>"สรุป Key Insights 3 ข้อสั้นๆ กระชับ ไม่อารัมภบท</a:t>
            </a:r>
          </a:p>
          <a:p>
            <a:r>
              <a:t>และเสนอข้อเสนอแนะเชิงกลยุทธ์ (Action Plan) 3</a:t>
            </a:r>
          </a:p>
          <a:p>
            <a:r>
              <a:t>ข้อที่ทำได้จริง"</a:t>
            </a:r>
          </a:p>
          <a:p>
            <a:r>
              <a:t> 3. กฎห้ามเดา (Anti-Hallucination)</a:t>
            </a:r>
          </a:p>
          <a:p>
            <a:r>
              <a:t>"คำนวณจากตารางจริงเท่านั้น หากจุดใดไม่มีข้อมูล</a:t>
            </a:r>
          </a:p>
          <a:p>
            <a:r>
              <a:t>ให้ระบุว่า 'ไม่มีข้อมูลในตาราง' ห้ามคาดเดาหรือ</a:t>
            </a:r>
          </a:p>
          <a:p>
            <a:r>
              <a:t>สมมติตัวเลขขึ้นเองเด็ดขาด"</a:t>
            </a:r>
          </a:p>
          <a:p>
            <a:r>
              <a:t>GOLDEN_FORMAT_CLAUSE.PROMPT</a:t>
            </a:r>
          </a:p>
          <a:p>
            <a:r>
              <a:t>[ข้อกำหนดการตอบ]: สรุปเป็นตาราง Markdown + 3 ข้อค้นพบสำคัญ + 3 แผนกลยุทธ์ อ้างอิงตัวเลขจริงจากไฟล์เท่านั้น หากคำนวณไม่ได้ให้แสดงโค้ด</a:t>
            </a:r>
          </a:p>
          <a:p>
            <a:r>
              <a:t>Python ห้ามเดาตัวเลขเด็ดขาด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14 Content]</a:t>
            </a:r>
          </a:p>
          <a:p>
            <a:r>
              <a:t>ประชันหมัดต่อหมัด: Bad Prompt vs Good Prompt</a:t>
            </a:r>
          </a:p>
          <a:p>
            <a:r>
              <a:t>ดูความต่างของผลลัพธ์บนชุดข้อมูล Toon Coffee House CRM จริง</a:t>
            </a:r>
          </a:p>
          <a:p>
            <a:r>
              <a:t>COMPARISON</a:t>
            </a:r>
          </a:p>
          <a:p>
            <a:r>
              <a:t> Bad Prompt (คำสั่งไร้โครงสร้าง)</a:t>
            </a:r>
          </a:p>
          <a:p>
            <a:r>
              <a:t>"ช่วยดูยอดขายร้านกาแฟให้หน่อย ขายดีไหม เมนูไหนแย่ แล้วต้องทำ</a:t>
            </a:r>
          </a:p>
          <a:p>
            <a:r>
              <a:t>ไงต่อ"</a:t>
            </a:r>
          </a:p>
          <a:p>
            <a:r>
              <a:t>ผลลัพธ์จาก AI:</a:t>
            </a:r>
          </a:p>
          <a:p>
            <a:r>
              <a:t>💬 "ร้านกาแฟของคุณมียอดขายค่อนข้างดีค่ะ มีลูกค้าหลายกลุ่ม แนะนำให้จัด</a:t>
            </a:r>
          </a:p>
          <a:p>
            <a:r>
              <a:t>โปรโมชั่นลดราคา ทำการตลาดบน Facebook เพิ่มเมนูใหม่ๆ และอบรมพนักงาน</a:t>
            </a:r>
          </a:p>
          <a:p>
            <a:r>
              <a:t>บริการให้ยิ้มแย้มนะคะ"</a:t>
            </a:r>
          </a:p>
          <a:p>
            <a:r>
              <a:t>❌ ไม่มีตัวเลข ไม่มีชื่อสาขา ไม่เจาะจงเมนู นำไปใช้จริงไม่ได้เลย!</a:t>
            </a:r>
          </a:p>
          <a:p>
            <a:r>
              <a:t> Good Prompt (สูตร C-R-O-D-A)</a:t>
            </a:r>
          </a:p>
          <a:p>
            <a:r>
              <a:t>"ในฐานะ F&amp;B Retail Consultant จากตาราง 1,000 ออเดอร์</a:t>
            </a:r>
          </a:p>
          <a:p>
            <a:r>
              <a:t>ของ Toon Coffee House โปรดคำนวณยอดขาย Net_Amount รวม</a:t>
            </a:r>
          </a:p>
          <a:p>
            <a:r>
              <a:t>และจัดอันดับ 4 สาขา พร้อมชี้เป้าเมนู Bakery ที่มียอดขายต่ำสุด</a:t>
            </a:r>
          </a:p>
          <a:p>
            <a:r>
              <a:t>เพื่อเสนอแผน Bundle ใน 30 วัน สรุปเป็นตารางและ Bullets</a:t>
            </a:r>
          </a:p>
          <a:p>
            <a:r>
              <a:t>ห้ามมโนตัวเลข"</a:t>
            </a:r>
          </a:p>
          <a:p>
            <a:r>
              <a:t>ผลลัพธ์จาก AI:</a:t>
            </a:r>
          </a:p>
          <a:p>
            <a:r>
              <a:t>✔️ ได้ตารางยอดรวม 126,375.75 บาท ชี้สยามสแควร์ครอง 378 บิล (แชมป์)</a:t>
            </a:r>
          </a:p>
          <a:p>
            <a:r>
              <a:t>✔️ ชี้เป้า Butter Croissant ขายได้ต่ำสุด (3,498.75 บ.)</a:t>
            </a:r>
          </a:p>
          <a:p>
            <a:r>
              <a:t>✔️ เสนอแผน Morning Combo "Iced Americano + ครัวซองต์" ดันยอดเช้า</a:t>
            </a:r>
          </a:p>
          <a:p>
            <a:r>
              <a:t>ทันที!</a:t>
            </a:r>
          </a:p>
          <a:p>
            <a:r>
              <a:t>สรุปบทเรียน: คุณภาพของคำตอบจาก AI ขึ้นอยู่กับคุณภาพของคำสั่งที่คุณป้อนลงไป 100%!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15 Content]</a:t>
            </a:r>
          </a:p>
          <a:p>
            <a:r>
              <a:t>บันได 4 ขั้นคำถามธุรกิจ: สั่ง Gemini ให้ถึงขั้นทำเงิน!</a:t>
            </a:r>
          </a:p>
          <a:p>
            <a:r>
              <a:t>แปลงกรอบสถิติ 4 ระดับจาก Session 2 สู่คำสั่งจริงบนข้อมูล Toon Coffee House CRM</a:t>
            </a:r>
          </a:p>
          <a:p>
            <a:r>
              <a:t>4 LEVELS</a:t>
            </a:r>
          </a:p>
          <a:p>
            <a:r>
              <a:t>ขั้นที่ 1</a:t>
            </a:r>
          </a:p>
          <a:p>
            <a:r>
              <a:t>Descriptive</a:t>
            </a:r>
          </a:p>
          <a:p>
            <a:r>
              <a:t>"เกิดอะไรขึ้นบ้าง?"</a:t>
            </a:r>
          </a:p>
          <a:p>
            <a:r>
              <a:t>"ยอดขายรวม 1,000 บิลเท่าไร และ</a:t>
            </a:r>
          </a:p>
          <a:p>
            <a:r>
              <a:t>สัดส่วนยอดขายแบ่งตาม 4 สาขาและ</a:t>
            </a:r>
          </a:p>
          <a:p>
            <a:r>
              <a:t>4 หมวดสินค้าเป็นอย่างไร?"</a:t>
            </a:r>
          </a:p>
          <a:p>
            <a:r>
              <a:t>ขั้นที่ 2</a:t>
            </a:r>
          </a:p>
          <a:p>
            <a:r>
              <a:t>Diagnostic</a:t>
            </a:r>
          </a:p>
          <a:p>
            <a:r>
              <a:t>"ทำไมถึงเกิด?"</a:t>
            </a:r>
          </a:p>
          <a:p>
            <a:r>
              <a:t>"ทำไมสาขาลาดพร้าวจึงมียอดขายต่ำ</a:t>
            </a:r>
          </a:p>
          <a:p>
            <a:r>
              <a:t>สุด (170 บิล) และได้ Rating ต่ำสุด</a:t>
            </a:r>
          </a:p>
          <a:p>
            <a:r>
              <a:t>4.36 เกี่ยวกับสัดส่วน Delivery หรือ</a:t>
            </a:r>
          </a:p>
          <a:p>
            <a:r>
              <a:t>ไม่?"</a:t>
            </a:r>
          </a:p>
          <a:p>
            <a:r>
              <a:t>ขั้นที่ 3</a:t>
            </a:r>
          </a:p>
          <a:p>
            <a:r>
              <a:t>Predictive</a:t>
            </a:r>
          </a:p>
          <a:p>
            <a:r>
              <a:t>"จะเกิดอะไรต่อไป?"</a:t>
            </a:r>
          </a:p>
          <a:p>
            <a:r>
              <a:t>"จากเทรนด์ลูกค้าสั่งหวาน 0% สูงถึง</a:t>
            </a:r>
          </a:p>
          <a:p>
            <a:r>
              <a:t>39.6% หากร้านไม่ปรับสูตรกาแฟนม</a:t>
            </a:r>
          </a:p>
          <a:p>
            <a:r>
              <a:t>ยอดขายกลุ่มวัยรุ่น Gen Z จะลดลง</a:t>
            </a:r>
          </a:p>
          <a:p>
            <a:r>
              <a:t>เท่าไร?"</a:t>
            </a:r>
          </a:p>
          <a:p>
            <a:r>
              <a:t>ขั้นที่ 4 (ทำเงินสุด)</a:t>
            </a:r>
          </a:p>
          <a:p>
            <a:r>
              <a:t>Prescriptive</a:t>
            </a:r>
          </a:p>
          <a:p>
            <a:r>
              <a:t>"ควรทำอย่างไรต่อ?"</a:t>
            </a:r>
          </a:p>
          <a:p>
            <a:r>
              <a:t>"ควรออกโปรโมชั่นแต้มสะสมแบบใด</a:t>
            </a:r>
          </a:p>
          <a:p>
            <a:r>
              <a:t>เพื่อดึงลูกค้า Regular เช่น 'จิฮิโระ' ที่</a:t>
            </a:r>
          </a:p>
          <a:p>
            <a:r>
              <a:t>ซื้อ 26 ครั้งให้อัปเกรดเป็น Gold?"</a:t>
            </a:r>
          </a:p>
          <a:p>
            <a:r>
              <a:t></a:t>
            </a:r>
          </a:p>
          <a:p>
            <a:r>
              <a:t>ข้อสังเกตเจ้าของธุรกิจ: สูตรใน Sheets ส่วนใหญ่ทำได้ดีในขั้นที่ 1 (Descriptive) แต่เมื่อใช้ Gemini เราสามารถก้าวกระโดดไปถึงขั้นที่ 2, 3, และ 4</a:t>
            </a:r>
          </a:p>
          <a:p>
            <a:r>
              <a:t>(Prescriptive) ได้ทันที!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16 Content]</a:t>
            </a:r>
          </a:p>
          <a:p>
            <a:r>
              <a:t>คลัง Prompt #1: สรุปสุขภาพธุรกิจ (Executive Summary)</a:t>
            </a:r>
          </a:p>
          <a:p>
            <a:r>
              <a:t>เช็กสถานะร้าน Toon Coffee House ใน 1 นาที: ยอดขาย บิลเฉลี่ย และผลงาน 4 สาขา</a:t>
            </a:r>
          </a:p>
          <a:p>
            <a:r>
              <a:t>TEMPLATE 1</a:t>
            </a:r>
          </a:p>
          <a:p>
            <a:r>
              <a:t>ข้อดีสำหรับเจ้าของร้าน: ไม่ต้องเสียเวลาเปิดหลายสเปรดชีต แค่ส่ง Prompt นี้ทุกสิ้นเดือน ก็รู้ผลงานรอบด้านทันทีในเวลาไม่ถึง 10 วินาที!</a:t>
            </a:r>
          </a:p>
          <a:p>
            <a:r>
              <a:t>BAD PROMPT</a:t>
            </a:r>
          </a:p>
          <a:p>
            <a:r>
              <a:t>คำสั่งคลุมเครือ (ไร้บริบท &amp; ตัวชี้วัด):</a:t>
            </a:r>
          </a:p>
          <a:p>
            <a:r>
              <a:t>"ช่วยสรุปยอดขายร้านกาแฟให้หน่อย ขายดีไหม สาขาไหนขายดีสุด แล้วต้อง</a:t>
            </a:r>
          </a:p>
          <a:p>
            <a:r>
              <a:t>ปรับปรุงอะไรบ้าง"</a:t>
            </a:r>
          </a:p>
          <a:p>
            <a:r>
              <a:t>❌ ข้อผิดพลาดที่ทำให้ AI ตอบไม่ตรงเป้า:</a:t>
            </a:r>
          </a:p>
          <a:p>
            <a:r>
              <a:t>• ไม่ระบุชื่อไฟล์ หรือคอลัมน์ข้อมูลที่ต้องคำนวณ</a:t>
            </a:r>
          </a:p>
          <a:p>
            <a:r>
              <a:t>• ไม่ระบุตัวชี้วัด (Net_Amount, AOV, Rating)</a:t>
            </a:r>
          </a:p>
          <a:p>
            <a:r>
              <a:t>• AI จะตอบแบบกว้างๆ ทั่วไป ไม่ได้ตัวเลขจริงไปใช้งาน</a:t>
            </a:r>
          </a:p>
          <a:p>
            <a:r>
              <a:t>GOOD PROMPT (C-R-O-D-A)</a:t>
            </a:r>
          </a:p>
          <a:p>
            <a:r>
              <a:t>[Role &amp; Context]: ในฐานะ CFO &amp; Retail Analyst จากข้อมูล</a:t>
            </a:r>
          </a:p>
          <a:p>
            <a:r>
              <a:t>1,000 บิลของ Toon Coffee House ในไฟล์ session-6a-coffee-</a:t>
            </a:r>
          </a:p>
          <a:p>
            <a:r>
              <a:t>sales-crm.xlsx จงจัดทำ Executive Summary Q1/2026:</a:t>
            </a:r>
          </a:p>
          <a:p>
            <a:r>
              <a:t>[Task]:</a:t>
            </a:r>
          </a:p>
          <a:p>
            <a:r>
              <a:t>1. คำนวณ ยอดขายสุทธิ (Net_Amount), จำนวนบิล, และ AOV</a:t>
            </a:r>
          </a:p>
          <a:p>
            <a:r>
              <a:t>2. ตารางเปรียบเทียบ 4 สาขา (ยอดขาย, % สัดส่วน, Rating)</a:t>
            </a:r>
          </a:p>
          <a:p>
            <a:r>
              <a:t>3. สรุปสัดส่วนยอดขายตาม 3 ช่องทางจำหน่าย</a:t>
            </a:r>
          </a:p>
          <a:p>
            <a:r>
              <a:t>[Rule]: คำนวณจากตารางจริง ห้ามเดาตัวเลข สรุปตาราง + 3 ข้อสังเกต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17 Content]</a:t>
            </a:r>
          </a:p>
          <a:p>
            <a:r>
              <a:t>คลัง Prompt #2: เมนูทำเงิน vs เมนูจมทุน (ABC Analysis)</a:t>
            </a:r>
          </a:p>
          <a:p>
            <a:r>
              <a:t>จัดเกรด 19 เมนูใน Toon Coffee House ด้วยหลักพาเรโต เพื่อบริหารจัดการสต็อกอย่างชาญฉลาด</a:t>
            </a:r>
          </a:p>
          <a:p>
            <a:r>
              <a:t>TEMPLATE 2</a:t>
            </a:r>
          </a:p>
          <a:p>
            <a:r>
              <a:t>Menu Engineering Insight: กาแฟคือตัวดึง Traffic เข้าร้าน แต่สินค้า Merchandise และเค้กพรีเมียมคือตัวสร้าง Margin กำไรสูงสุด!</a:t>
            </a:r>
          </a:p>
          <a:p>
            <a:r>
              <a:t>BAD PROMPT</a:t>
            </a:r>
          </a:p>
          <a:p>
            <a:r>
              <a:t>คำสั่งคลุมเครือ (ไร้เกณฑ์วิเคราะห์):</a:t>
            </a:r>
          </a:p>
          <a:p>
            <a:r>
              <a:t>"ช่วยดูให้หน่อยว่าเมนูไหนของร้าน Toon Coffee House ขายดี เมนูไหน</a:t>
            </a:r>
          </a:p>
          <a:p>
            <a:r>
              <a:t>ขายไม่ออก ควรตัดเมนูไหนทิ้ง"</a:t>
            </a:r>
          </a:p>
          <a:p>
            <a:r>
              <a:t>❌ ข้อผิดพลาดที่ทำให้ AI ตอบไม่ตรงเป้า:</a:t>
            </a:r>
          </a:p>
          <a:p>
            <a:r>
              <a:t>• ไม่ได้กำหนดเกณฑ์แยกแยะ (ยอดเงิน Net_Amount vs จำนวนแก้ว)</a:t>
            </a:r>
          </a:p>
          <a:p>
            <a:r>
              <a:t>• เสี่ยงตัดเมนูสำคัญ เช่น สินค้ากำไรสูง หรือแก้วของที่ระลึก</a:t>
            </a:r>
          </a:p>
          <a:p>
            <a:r>
              <a:t>• AI ไม่มีหลักคิดแบบ ABC Analysis ทำให้แนะนำผิดพลาด</a:t>
            </a:r>
          </a:p>
          <a:p>
            <a:r>
              <a:t>GOOD PROMPT (C-R-O-D-A)</a:t>
            </a:r>
          </a:p>
          <a:p>
            <a:r>
              <a:t>[Role &amp; Task]: ในฐานะ Menu Consultant จงทำ ABC</a:t>
            </a:r>
          </a:p>
          <a:p>
            <a:r>
              <a:t>Analysis จัดเกรดสินค้า 19 รายการใน Toon Coffee House ตาม</a:t>
            </a:r>
          </a:p>
          <a:p>
            <a:r>
              <a:t>ยอดขายสะสม Net_Amount:</a:t>
            </a:r>
          </a:p>
          <a:p>
            <a:r>
              <a:t>• Grade A (Stars): ทำเงินสะสม 70% แรก (เช่น แก้ว Tumbler)</a:t>
            </a:r>
          </a:p>
          <a:p>
            <a:r>
              <a:t>• Grade B (Cash Cows): ทำเงินสะสม 20% ถัดมา</a:t>
            </a:r>
          </a:p>
          <a:p>
            <a:r>
              <a:t>• Grade C (Underperformers): ทำเงิน 10% สุดท้าย</a:t>
            </a:r>
          </a:p>
          <a:p>
            <a:r>
              <a:t>[Rule &amp; Output]: สรุปตาราง + วิเคราะห์เมนู Bakery Grade C</a:t>
            </a:r>
          </a:p>
          <a:p>
            <a:r>
              <a:t>(ครัวซองต์) พร้อมเสนอแผน Combo ดันยอด ห้ามมโนตัวเลข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18 Content]</a:t>
            </a:r>
          </a:p>
          <a:p>
            <a:r>
              <a:t>คลัง Prompt #3: ขุดขุมทรัพย์ลูกค้าตัวการ์ตูน (CRM Insights)</a:t>
            </a:r>
          </a:p>
          <a:p>
            <a:r>
              <a:t>วิเคราะห์ 50 สมาชิกและกลุ่ม Walk-in เพื่อหาลูกค้า VIP และโอกาสเติบโตทางธุรกิจ</a:t>
            </a:r>
          </a:p>
          <a:p>
            <a:r>
              <a:t>TEMPLATE 3</a:t>
            </a:r>
          </a:p>
          <a:p>
            <a:r>
              <a:t>การตัดสินใจเจ้าของร้าน: ต้องรีบส่งข้อความอัปเกรดสถานะให้ "จิฮิโระ" ขึ้นเป็น Gold/Platinum ทันที และเปิดแคมเปญเปลี่ยนลูกค้า Walk-in ให้เป็น</a:t>
            </a:r>
          </a:p>
          <a:p>
            <a:r>
              <a:t>สมาชิกเพื่อเก็บ Data ระยะยาว!</a:t>
            </a:r>
          </a:p>
          <a:p>
            <a:r>
              <a:t>BAD PROMPT</a:t>
            </a:r>
          </a:p>
          <a:p>
            <a:r>
              <a:t>คำสั่งคลุมเครือ (ขาดมิติข้อมูล CRM):</a:t>
            </a:r>
          </a:p>
          <a:p>
            <a:r>
              <a:t>"มีข้อมูลลูกค้าของร้านอยู่ ช่วยดูพฤติกรรมลูกค้าให้หน่อย มีใครเป็นลูกค้าประจำ</a:t>
            </a:r>
          </a:p>
          <a:p>
            <a:r>
              <a:t>บ้าง"</a:t>
            </a:r>
          </a:p>
          <a:p>
            <a:r>
              <a:t>❌ ข้อผิดพลาดที่ทำให้ AI ตอบไม่ตรงเป้า:</a:t>
            </a:r>
          </a:p>
          <a:p>
            <a:r>
              <a:t>• ไม่ระบุคอลัมน์ Customer_ID, Customer_Name หรือ Tier</a:t>
            </a:r>
          </a:p>
          <a:p>
            <a:r>
              <a:t>• ไม่สามารถแยกแยะกลุ่ม Walk-in ออกจากสมาชิก 50 คนได้</a:t>
            </a:r>
          </a:p>
          <a:p>
            <a:r>
              <a:t>• มองไม่เห็น Hidden VIP ที่ถือบัตร Regular แต่ซื้อบ่อยผิดปกติ</a:t>
            </a:r>
          </a:p>
          <a:p>
            <a:r>
              <a:t>GOOD PROMPT (C-R-O-D-A)</a:t>
            </a:r>
          </a:p>
          <a:p>
            <a:r>
              <a:t>[Role &amp; Task]: ในฐานะ CRM Strategist จากข้อมูล 50 สมาชิก</a:t>
            </a:r>
          </a:p>
          <a:p>
            <a:r>
              <a:t>และ Walk-in ของ Toon Coffee House:</a:t>
            </a:r>
          </a:p>
          <a:p>
            <a:r>
              <a:t>1. จัดอันดับ Top 5 ลูกค้า ยอดใช้จ่ายสะสมสูงสุด</a:t>
            </a:r>
          </a:p>
          <a:p>
            <a:r>
              <a:t>2. คำนวณยอดและสัดส่วนของกลุ่ม "ลูกค้าทั่วไป (Walk-in)"</a:t>
            </a:r>
          </a:p>
          <a:p>
            <a:r>
              <a:t>3. ตรวจจับ Hidden VIP: หา Regular/Silver ที่ซื้อถี่ (เช่น คุณจิฮิ</a:t>
            </a:r>
          </a:p>
          <a:p>
            <a:r>
              <a:t>โระ CUST-041) ยอดแตะระดับ Gold ขึ้นไปเพื่อเสนอสิทธิ์อัปเกรด</a:t>
            </a:r>
          </a:p>
          <a:p>
            <a:r>
              <a:t>[Rule]: คำนวณจากคอลัมน์จริง สรุป Bullets พร้อมแคมเปญ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19 Content]</a:t>
            </a:r>
          </a:p>
          <a:p>
            <a:r>
              <a:t>คลัง Prompt #4: เปลี่ยนตัวเลขเป็นแผน 30 วัน (Action Plan)</a:t>
            </a:r>
          </a:p>
          <a:p>
            <a:r>
              <a:t>เปลี่ยน Insight บนหน้าจอ ให้กลายเป็นแผนลงมือทำจริงที่เพิ่มยอดขายและกำไรได้ทันตา</a:t>
            </a:r>
          </a:p>
          <a:p>
            <a:r>
              <a:t>TEMPLATE 4</a:t>
            </a:r>
          </a:p>
          <a:p>
            <a:r>
              <a:t>Strategic Execution Rule: Insight ที่ดีต้องแปลงเป็น Next Steps ที่ทำได้จริงใน 30 วัน ถ้าไม่มี Action Plan ตัวเลขก็ไร้ความหมาย!</a:t>
            </a:r>
          </a:p>
          <a:p>
            <a:r>
              <a:t>BAD PROMPT</a:t>
            </a:r>
          </a:p>
          <a:p>
            <a:r>
              <a:t>คำสั่งคลุมเครือ (ขาดกรอบเวลา &amp; กลยุทธ์):</a:t>
            </a:r>
          </a:p>
          <a:p>
            <a:r>
              <a:t>"ได้ข้อมูลยอดขายมาแล้ว ช่วยแนะนำกลยุทธ์การตลาดให้ร้าน Toon Coffee</a:t>
            </a:r>
          </a:p>
          <a:p>
            <a:r>
              <a:t>House หน่อย ทำอะไรดี"</a:t>
            </a:r>
          </a:p>
          <a:p>
            <a:r>
              <a:t>❌ ข้อผิดพลาดที่ทำให้ AI ตอบไม่ตรงเป้า:</a:t>
            </a:r>
          </a:p>
          <a:p>
            <a:r>
              <a:t>• ได้คำแนะนำสูตรสำเร็จทั่วไป (ยิงแอด FB, ลดราคา)</a:t>
            </a:r>
          </a:p>
          <a:p>
            <a:r>
              <a:t>• ไม่แบ่งเฟสเวลาเร่งด่วน เจ้าของร้านไม่รู้จะเริ่มทำจุดไหนก่อน</a:t>
            </a:r>
          </a:p>
          <a:p>
            <a:r>
              <a:t>• ไม่ตอบโจทย์ปัญหาจริงของร้าน (เช่น สาขาลาดพร้าว, ครัวซองต์ขายช้า)</a:t>
            </a:r>
          </a:p>
          <a:p>
            <a:r>
              <a:t>GOOD PROMPT (C-R-O-D-A)</a:t>
            </a:r>
          </a:p>
          <a:p>
            <a:r>
              <a:t>[Role &amp; Task]: ในฐานะ F&amp;B Retail Consultant จากข้อมูล</a:t>
            </a:r>
          </a:p>
          <a:p>
            <a:r>
              <a:t>1,000 ออเดอร์ของ Toon Coffee House จงแปลงผลวิเคราะห์เป็น</a:t>
            </a:r>
          </a:p>
          <a:p>
            <a:r>
              <a:t>"แผนปฏิบัติการ 30 วัน" 3 ระยะ:</a:t>
            </a:r>
          </a:p>
          <a:p>
            <a:r>
              <a:t>1. Quick Win (48 ชม.): กิจกรรมไม่ใช้เงิน ดันยอดสาขาลาดพร้าวทันที</a:t>
            </a:r>
          </a:p>
          <a:p>
            <a:r>
              <a:t>2. Menu Combo (สัปดาห์ 2): จับคู่สินค้าดัน AOV ขึ้น 15% (แก้ปัญหา</a:t>
            </a:r>
          </a:p>
          <a:p>
            <a:r>
              <a:t>ครัวซองต์)</a:t>
            </a:r>
          </a:p>
          <a:p>
            <a:r>
              <a:t>3. Member Upgrade (สัปดาห์ 3-4): แคมเปญดึง Walk-in 150</a:t>
            </a:r>
          </a:p>
          <a:p>
            <a:r>
              <a:t>คนเข้าสู่ระบบ</a:t>
            </a:r>
          </a:p>
          <a:p>
            <a:r>
              <a:t>[Format]: แผนปฏิบัติจริงสำหรับทีมหน้าร้าน พร้อมเป้าตัวเลข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20 Content]</a:t>
            </a:r>
          </a:p>
          <a:p>
            <a:r>
              <a:t>คลัง Prompt #5: จำลองสถานการณ์ "ถ้า...จะเกิดอะไรขึ้น?"</a:t>
            </a:r>
          </a:p>
          <a:p>
            <a:r>
              <a:t>ทดลองสมมติการตัดสินใจธุรกิจในคอมพิวเตอร์ด้วย Gemini ก่อนเอาเงินจริงไปเสี่ยง</a:t>
            </a:r>
          </a:p>
          <a:p>
            <a:r>
              <a:t>TEMPLATE 5</a:t>
            </a:r>
          </a:p>
          <a:p>
            <a:r>
              <a:t>ประโยชน์สูงสุด: What-If Prompting ช่วยลดความเสี่ยงในการลองผิดลองถูก และช่วยให้เราตัดสินใจบนตัวเลขประมาณการที่สมเหตุสมผล</a:t>
            </a:r>
          </a:p>
          <a:p>
            <a:r>
              <a:t>BAD PROMPT</a:t>
            </a:r>
          </a:p>
          <a:p>
            <a:r>
              <a:t>คำสั่งคลุมเครือ (เปิดช่องให้ AI มโนตัวเลข):</a:t>
            </a:r>
          </a:p>
          <a:p>
            <a:r>
              <a:t>"ถ้าเราขึ้นราคาสินค้า หรือจัดโปรลดราคา 10% ร้านเราจะได้เงินเพิ่มขึ้นไหม ช่วย</a:t>
            </a:r>
          </a:p>
          <a:p>
            <a:r>
              <a:t>เดาให้หน่อย"</a:t>
            </a:r>
          </a:p>
          <a:p>
            <a:r>
              <a:t>❌ ข้อผิดพลาดที่ทำให้ AI ตอบไม่ตรงเป้า:</a:t>
            </a:r>
          </a:p>
          <a:p>
            <a:r>
              <a:t>• ใช้คำว่า "ช่วยเดา" ทำให้ AI เกิด Hallucination ทันที</a:t>
            </a:r>
          </a:p>
          <a:p>
            <a:r>
              <a:t>• ไม่เจาะจงเมนูและขนาดที่ต้องการปรับราคา (เช่น แก้ว Large +5 บ.)</a:t>
            </a:r>
          </a:p>
          <a:p>
            <a:r>
              <a:t>• ไม่มีตัวเลขสมมติฐานทางธุรกิจที่ผูกกับข้อมูลจริง 1,000 ออเดอร์</a:t>
            </a:r>
          </a:p>
          <a:p>
            <a:r>
              <a:t>GOOD PROMPT (C-R-O-D-A)</a:t>
            </a:r>
          </a:p>
          <a:p>
            <a:r>
              <a:t>[Role &amp; Task]: ในฐานะ Financial Analyst จงจำลอง</a:t>
            </a:r>
          </a:p>
          <a:p>
            <a:r>
              <a:t>สถานการณ์ธุรกิจ (What-If) 2 กรณีจากตารางจริง 1,000 ออเดอร์:</a:t>
            </a:r>
          </a:p>
          <a:p>
            <a:r>
              <a:t>• กรณี A (Upsize Large): ปรับราคาเพิ่มไซส์ Large จากเดิม +15</a:t>
            </a:r>
          </a:p>
          <a:p>
            <a:r>
              <a:t>เป็น +20 บาท สมมติ 312 แก้วเท่าเดิม จะได้กำไรเพิ่มกี่บาท?</a:t>
            </a:r>
          </a:p>
          <a:p>
            <a:r>
              <a:t>• กรณี B (เปลี่ยน Walk-in): แคมเปญเปลี่ยน Walk-in 30% (45</a:t>
            </a:r>
          </a:p>
          <a:p>
            <a:r>
              <a:t>บิล) เป็นสมาชิก Silver (ลด 5%) แต่ซื้อถี่ขึ้น 1.5 เท่า ยอดขายจะ</a:t>
            </a:r>
          </a:p>
          <a:p>
            <a:r>
              <a:t>เปลี่ยนอย่างไร?</a:t>
            </a:r>
          </a:p>
          <a:p>
            <a:r>
              <a:t>[Rule]: แสดงสูตรคำนวณและสมมติฐานเปรียบเทียบชัดเจน ห้ามเดาตัวเลข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21 Content]</a:t>
            </a:r>
          </a:p>
          <a:p>
            <a:r>
              <a:t>เทคนิคสนทนาเจาะลึก 3 ขยัก: Multi-Turn Prompting</a:t>
            </a:r>
          </a:p>
          <a:p>
            <a:r>
              <a:t>ศิลปะการพูดคุยต่อเนื่องกับ Gemini เพื่อขุดให้ถึงรากของปัญหาและได้คำตอบที่เฉียบคม</a:t>
            </a:r>
          </a:p>
          <a:p>
            <a:r>
              <a:t>ADVANCED</a:t>
            </a:r>
          </a:p>
          <a:p>
            <a:r>
              <a:t>ขยักที่ 1: Macro View</a:t>
            </a:r>
          </a:p>
          <a:p>
            <a:r>
              <a:t>ถามภาพรวมรอบทิศ</a:t>
            </a:r>
          </a:p>
          <a:p>
            <a:r>
              <a:t>💬 "ช่วยสรุปยอดขายแยกตามช่วงเวลา</a:t>
            </a:r>
          </a:p>
          <a:p>
            <a:r>
              <a:t>(Time_Slot) และช่องทาง (Sales_Channel) ให้</a:t>
            </a:r>
          </a:p>
          <a:p>
            <a:r>
              <a:t>หน่อย"</a:t>
            </a:r>
          </a:p>
          <a:p>
            <a:r>
              <a:t>🤖 Gemini: ตอบตารางสรุป พบว่าช่วงบ่าย</a:t>
            </a:r>
          </a:p>
          <a:p>
            <a:r>
              <a:t>(14:00-16:59) มียอดสั่งซื้อกลับบ้านสูงผิดปกติ</a:t>
            </a:r>
          </a:p>
          <a:p>
            <a:r>
              <a:t>ขยักที่ 2: Deep-Dive</a:t>
            </a:r>
          </a:p>
          <a:p>
            <a:r>
              <a:t>เจาะลึกหาสาเหตุ</a:t>
            </a:r>
          </a:p>
          <a:p>
            <a:r>
              <a:t>💬 "เจาะเฉพาะช่วงบ่ายที่สาขาอารีย์ ทำไมลูกค้าถึง</a:t>
            </a:r>
          </a:p>
          <a:p>
            <a:r>
              <a:t>ซื้อกลับมากกว่านั่งทาน และเมนูไหนขายดีสุด?"</a:t>
            </a:r>
          </a:p>
          <a:p>
            <a:r>
              <a:t>🤖 Gemini: พบว่าเป็นกลุ่มพนักงานออฟฟิศสั่ง</a:t>
            </a:r>
          </a:p>
          <a:p>
            <a:r>
              <a:t>เครื่องดื่ม Non-Coffee และครัวซองต์กลับไปกินที่</a:t>
            </a:r>
          </a:p>
          <a:p>
            <a:r>
              <a:t>ทำงาน</a:t>
            </a:r>
          </a:p>
          <a:p>
            <a:r>
              <a:t>ขยักที่ 3: Actionable Output</a:t>
            </a:r>
          </a:p>
          <a:p>
            <a:r>
              <a:t>สั่งแผนปฏิบัติการ</a:t>
            </a:r>
          </a:p>
          <a:p>
            <a:r>
              <a:t>💬 "ช่วยร่างข้อความบรอดคาสต์ LINE OA สำหรับ</a:t>
            </a:r>
          </a:p>
          <a:p>
            <a:r>
              <a:t>สาขาอารีย์ โปรโมทเซ็ตบ่ายคลายง่วง พร้อมคำนวณ</a:t>
            </a:r>
          </a:p>
          <a:p>
            <a:r>
              <a:t>ส่วนลด"</a:t>
            </a:r>
          </a:p>
          <a:p>
            <a:r>
              <a:t>🤖 Gemini: ร่างข้อความโปรโมชั่นพร้อมยิงทันที!</a:t>
            </a:r>
          </a:p>
          <a:p>
            <a:r>
              <a:t></a:t>
            </a:r>
          </a:p>
          <a:p>
            <a:r>
              <a:t>ข้อดีของ Multi-Turn: ไม่ต้องพิมพ์บริบทใหม่ทุกครั้ง เพราะ Gemini จะจดจำตารางและตัวเลขที่คุยกันก่อนหน้าไว้ใน Session แชทเดียวกัน ทำให้คุย</a:t>
            </a:r>
          </a:p>
          <a:p>
            <a:r>
              <a:t>ต่อยอดได้ลึกซึ้งขึ้นเรื่อยๆ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22 Content]</a:t>
            </a:r>
          </a:p>
          <a:p>
            <a:r>
              <a:t>กรณีศึกษาที่ 1: ผ่าสมรภูมิ 4 สาขา (Siam vs Lat Phrao)</a:t>
            </a:r>
          </a:p>
          <a:p>
            <a:r>
              <a:t>วิเคราะห์เปรียบเทียบยอดขาย ความพึงพอใจ (Rating) และคอขวดการดำเนินงาน</a:t>
            </a:r>
          </a:p>
          <a:p>
            <a:r>
              <a:t>CASE STUDY 1</a:t>
            </a:r>
          </a:p>
          <a:p>
            <a:r>
              <a:t>สาขาสยามสแควร์ (Traffic King)</a:t>
            </a:r>
          </a:p>
          <a:p>
            <a:r>
              <a:t>• สถิติ: 378 บิล ยอดขายสูงสุด 47,820 บาท (37.8% ของร้าน)</a:t>
            </a:r>
          </a:p>
          <a:p>
            <a:r>
              <a:t>• จุดแข็ง: กลุ่ม Gen Z และ Gen Y หนาแน่น สินค้า Merchandise ขายดีสุด</a:t>
            </a:r>
          </a:p>
          <a:p>
            <a:r>
              <a:t>• จุดเสี่ยง: คะแนน Rating เฉลี่ย 4.44 (คนแน่น คิวยาวช่วงบ่าย 14:00-16:59</a:t>
            </a:r>
          </a:p>
          <a:p>
            <a:r>
              <a:t>น.)</a:t>
            </a:r>
          </a:p>
          <a:p>
            <a:r>
              <a:t>• แนวทางแก้ไข: เพิ่มเคาน์เตอร์ Express Takeaway และเปิดระบบสั่งล่วง</a:t>
            </a:r>
          </a:p>
          <a:p>
            <a:r>
              <a:t>หน้า</a:t>
            </a:r>
          </a:p>
          <a:p>
            <a:r>
              <a:t>สาขาลาดพร้าว (Struggling Branch)</a:t>
            </a:r>
          </a:p>
          <a:p>
            <a:r>
              <a:t>• สถิติ: 170 บิล ยอดขายรั้งท้าย 21,340 บาท (16.9% ของร้าน)</a:t>
            </a:r>
          </a:p>
          <a:p>
            <a:r>
              <a:t>• จุดเสี่ยงวิกฤต: คะแนน Rating ต่ำสุดเพียง 4.36 ดาว</a:t>
            </a:r>
          </a:p>
          <a:p>
            <a:r>
              <a:t>• สาเหตุที่ Gemini ขุดพบ: พึ่งพาช่องทาง Delivery สูงถึง 23% แต่มักเจอ</a:t>
            </a:r>
          </a:p>
          <a:p>
            <a:r>
              <a:t>ปัญหาขนส่งล่าช้าและน้ำแข็งละลาย</a:t>
            </a:r>
          </a:p>
          <a:p>
            <a:r>
              <a:t>• แนวทางแก้ไข: ปรับบรรจุภัณฑ์แยกน้ำแข็ง และตั้งแคมเปญกระตุ้นคนเดิน</a:t>
            </a:r>
          </a:p>
          <a:p>
            <a:r>
              <a:t>เข้าร้าน</a:t>
            </a:r>
          </a:p>
          <a:p>
            <a:r>
              <a:t>Insight เชิงปฏิบัติการ: ยอดขายต่ำไม่ได้แปลว่าคนไม่ชอบเสมอไป บางครั้งคอขวดเกิดจาก "รูปแบบบริการ" ที่ไม่ตรงกับพฤติกรรมลูกค้าในทำเลนั้นๆ!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23 Content]</a:t>
            </a:r>
          </a:p>
          <a:p>
            <a:r>
              <a:t>กรณีศึกษาที่ 2: ปรากฏการณ์ "หวาน 0%" พลิกเกมเมนู</a:t>
            </a:r>
          </a:p>
          <a:p>
            <a:r>
              <a:t>เมื่อข้อมูลยอดขายบ่งชี้ว่าลูกค้ากว่า 77% สั่งหวานน้อยหรือหวาน 0%</a:t>
            </a:r>
          </a:p>
          <a:p>
            <a:r>
              <a:t>CASE STUDY 2</a:t>
            </a:r>
          </a:p>
          <a:p>
            <a:r>
              <a:t>39.6%</a:t>
            </a:r>
          </a:p>
          <a:p>
            <a:r>
              <a:t>0% (ไม่หวาน)</a:t>
            </a:r>
          </a:p>
          <a:p>
            <a:r>
              <a:t>อันดับ 1 ขาดลอย</a:t>
            </a:r>
          </a:p>
          <a:p>
            <a:r>
              <a:t>20.2%</a:t>
            </a:r>
          </a:p>
          <a:p>
            <a:r>
              <a:t>25% (หวานน้อยมาก)</a:t>
            </a:r>
          </a:p>
          <a:p>
            <a:r>
              <a:t>อันดับ 3</a:t>
            </a:r>
          </a:p>
          <a:p>
            <a:r>
              <a:t>17.6%</a:t>
            </a:r>
          </a:p>
          <a:p>
            <a:r>
              <a:t>50% (หวานน้อย)</a:t>
            </a:r>
          </a:p>
          <a:p>
            <a:r>
              <a:t>อันดับ 4</a:t>
            </a:r>
          </a:p>
          <a:p>
            <a:r>
              <a:t>22.6%</a:t>
            </a:r>
          </a:p>
          <a:p>
            <a:r>
              <a:t>100% (หวานปกติ)</a:t>
            </a:r>
          </a:p>
          <a:p>
            <a:r>
              <a:t>เหลือเพียง 1 ใน 5</a:t>
            </a:r>
          </a:p>
          <a:p>
            <a:r>
              <a:t>การปรับกลยุทธ์ร้านที่ Gemini แนะนำ:</a:t>
            </a:r>
          </a:p>
          <a:p>
            <a:r>
              <a:t>1. เมล็ดกาแฟ Specialty คั่วหอม: เมื่อคนไม่ใส่น้ำตาล รสชาติของเมล็ดกาแฟจะชัดเจนขึ้น ร้านต้องชูจุดขายเมล็ดคั่ว House Blend</a:t>
            </a:r>
          </a:p>
          <a:p>
            <a:r>
              <a:t>2. นมทางเลือกเพื่อสุขภาพ: เพิ่มตัวเลือกนมโอ๊ต (Oat Milk) หรือนมอัลมอนด์ +15 บาท สำหรับสายสุขภาพ</a:t>
            </a:r>
          </a:p>
          <a:p>
            <a:r>
              <a:t>3. Signature Dirty Coffee หวาน 0%: ทำแคมเปญ Dirty Coffee ใช้นมเย็นจัดแบบไม่ผสมไซรัป เป็นเมนูชูโรง</a:t>
            </a:r>
          </a:p>
          <a:p>
            <a:r>
              <a:t>พลังของ Data: ถ้าไม่ได้ดูตัวเลขจริง เจ้าของร้านอาจคิดไปเองว่าคนไทยชอบดื่มกาแฟหวานจัด และเสียโอกาสในการทำตลาดกลุ่มสุขภาพ!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24 Content]</a:t>
            </a:r>
          </a:p>
          <a:p>
            <a:r>
              <a:t>กรณีศึกษาที่ 3: เมอร์ชันไดส์ตัวการ์ตูน ขุมทรัพย์ซ่อนเร้น</a:t>
            </a:r>
          </a:p>
          <a:p>
            <a:r>
              <a:t>ทำไม Anime Tumbler 92 ชิ้น ถึงกวาดรายได้ไปกว่า 21,625 บาท?</a:t>
            </a:r>
          </a:p>
          <a:p>
            <a:r>
              <a:t>CASE STUDY 3</a:t>
            </a:r>
          </a:p>
          <a:p>
            <a:r>
              <a:t> ข้อมูลฟ้อง: แก้วน้ำพรีเมียมทำเงิน</a:t>
            </a:r>
          </a:p>
          <a:p>
            <a:r>
              <a:t>• หมวด Merchandise มีจำนวนรายการเพียง 92 ครั้ง (9.2%)</a:t>
            </a:r>
          </a:p>
          <a:p>
            <a:r>
              <a:t>• แต่สร้างยอดขายสูงถึง 33,357.50 บาท (26.4% ของทั้งร้าน!)</a:t>
            </a:r>
          </a:p>
          <a:p>
            <a:r>
              <a:t>• สินค้าเดี่ยวที่ทำเงินสูงสุดในร้านคือ Anime Tumbler 500ml (ชิ้นละ 390</a:t>
            </a:r>
          </a:p>
          <a:p>
            <a:r>
              <a:t>บาท กวาดไป 21,625.50 บาท)</a:t>
            </a:r>
          </a:p>
          <a:p>
            <a:r>
              <a:t>• ลูกค้าที่ซื้อแก้วน้ำเกือบ 80% เป็นสมาชิกระดับ Platinum และ Gold (โดราเอ</a:t>
            </a:r>
          </a:p>
          <a:p>
            <a:r>
              <a:t>มอน, ซูเนโอะ, รีไวล์)</a:t>
            </a:r>
          </a:p>
          <a:p>
            <a:r>
              <a:t> ข้อเสนอแนะเชิงกลยุทธ์จาก AI</a:t>
            </a:r>
          </a:p>
          <a:p>
            <a:r>
              <a:t>• 1. Limited Edition Drops: ปล่อยแก้วน้ำลายพิเศษตามฤดูกาล ทุกต้นเดือน</a:t>
            </a:r>
          </a:p>
          <a:p>
            <a:r>
              <a:t>เพื่อดึงดูดแฟนคลับ</a:t>
            </a:r>
          </a:p>
          <a:p>
            <a:r>
              <a:t>• 2. สิทธิ์แลกซื้อคู่เบเกอรี่: ซื้อกาแฟ + เค้กครบ 220 บาท รับสิทธิ์แลกซื้อแก้ว</a:t>
            </a:r>
          </a:p>
          <a:p>
            <a:r>
              <a:t>น้ำราคาพิเศษ 320 บาท เพื่อดันยอดเบเกอรี่เกรด C</a:t>
            </a:r>
          </a:p>
          <a:p>
            <a:r>
              <a:t>• 3. Bring Your Own Tumbler: ลูกค้าที่นำแก้ว Anime Tumbler มารับ</a:t>
            </a:r>
          </a:p>
          <a:p>
            <a:r>
              <a:t>ส่วนลดเครื่องดื่ม 10 บาท กระตุ้นการกลับมาซื้อซ้ำ</a:t>
            </a:r>
          </a:p>
          <a:p>
            <a:r>
              <a:t>Entrepreneur Mindset: ร้านกาแฟไม่จำเป็นต้องขายแค่กาแฟ! การต่อยอดสินค้า Merchandise ที่ตรงกับคาแรกเตอร์ของแบรนด์สามารถสร้างกำไรก้อน</a:t>
            </a:r>
          </a:p>
          <a:p>
            <a:r>
              <a:t>โตได้ทันที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25 Content]</a:t>
            </a:r>
          </a:p>
          <a:p>
            <a:r>
              <a:t>ด้านมืดของ AI: ระวัง! โรค AI มโนตัวเลข (AI Hallucination)</a:t>
            </a:r>
          </a:p>
          <a:p>
            <a:r>
              <a:t>ทำไม AI ถึงชอบ "แถเนียน" ตอบอย่างมั่นใจทั้งที่ตัวเลขบวกกันไม่ตรงกับตารางจริง?</a:t>
            </a:r>
          </a:p>
          <a:p>
            <a:r>
              <a:t>WARNING</a:t>
            </a:r>
          </a:p>
          <a:p>
            <a:r>
              <a:t> 1. AI เป็นโมเดลภาษา</a:t>
            </a:r>
          </a:p>
          <a:p>
            <a:r>
              <a:t>AI ถูกฝึกมาให้ "ทายคำถัดไปที่น่าจะใช่ที่สุด" ไม่ได้ถูก</a:t>
            </a:r>
          </a:p>
          <a:p>
            <a:r>
              <a:t>สร้างมาเป็นเครื่องคิดเลขโดยตรง หากไม่มีการรัน</a:t>
            </a:r>
          </a:p>
          <a:p>
            <a:r>
              <a:t>Python มันอาจสร้างตัวเลขที่ดูน่าเชื่อถือขึ้นมาเอง</a:t>
            </a:r>
          </a:p>
          <a:p>
            <a:r>
              <a:t>? 2. คำสั่งกำกวมคลุมเครือ</a:t>
            </a:r>
          </a:p>
          <a:p>
            <a:r>
              <a:t>ถ้าเราไม่ระบุคอลัมน์ Net_Amount ให้ชัดเจน AI อาจ</a:t>
            </a:r>
          </a:p>
          <a:p>
            <a:r>
              <a:t>นำ Subtotal ไปบวก หรือนับแถวผิด ทำให้ยอดขาย</a:t>
            </a:r>
          </a:p>
          <a:p>
            <a:r>
              <a:t>รวมคลาดเคลื่อน</a:t>
            </a:r>
          </a:p>
          <a:p>
            <a:r>
              <a:t> 3. เอาใจผู้ถาม (Bias)</a:t>
            </a:r>
          </a:p>
          <a:p>
            <a:r>
              <a:t>ถ้าเราถามนำว่า "โดราเอมอนซื้อเยอะสุดใช่ไหม?" AI</a:t>
            </a:r>
          </a:p>
          <a:p>
            <a:r>
              <a:t>อาจรีบตอบว่าใช่ทันที ทั้งที่ความจริง "จิฮิโระ" ซื้อ</a:t>
            </a:r>
          </a:p>
          <a:p>
            <a:r>
              <a:t>เยอะกว่า!</a:t>
            </a:r>
          </a:p>
          <a:p>
            <a:r>
              <a:t> หายนะทางธุรกิจหากเชื่อ AI โดยไม่ตรวจสอบ:</a:t>
            </a:r>
          </a:p>
          <a:p>
            <a:r>
              <a:t>หาก AI มโนว่าสาขาลาดพร้าวขายดี สั่งสต็อกนมสดและเมล็ดกาแฟไปตุนมหาศาล แต่วันจริงไม่มีคนซื้อ วัตถุดิบเน่าเสีย ธุรกิจขาดทุนเป็นเงินจริง!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26 Content]</a:t>
            </a:r>
          </a:p>
          <a:p>
            <a:r>
              <a:t>3 จุดตรวจทานตัวเลขใน Google Sheets ใน 1 นาที</a:t>
            </a:r>
          </a:p>
          <a:p>
            <a:r>
              <a:t>ดึงทักษะจาก Session 6A กลับมาใช้เป็นไม้บรรทัดจับโกหก AI อย่างรวดเร็ว</a:t>
            </a:r>
          </a:p>
          <a:p>
            <a:r>
              <a:t>PROTOCOL</a:t>
            </a:r>
          </a:p>
          <a:p>
            <a:r>
              <a:t> 1. เช็กยอดรวม (Grand Total)</a:t>
            </a:r>
          </a:p>
          <a:p>
            <a:r>
              <a:t>• เปิด Google Sheets ใส่สูตร:</a:t>
            </a:r>
          </a:p>
          <a:p>
            <a:r>
              <a:t>=SUM(V2:V1001) ในคอลัมน์ Net_Amount</a:t>
            </a:r>
          </a:p>
          <a:p>
            <a:r>
              <a:t>• ตัวเลขต้องตรงกับที่ Gemini บอก: 126,375.75</a:t>
            </a:r>
          </a:p>
          <a:p>
            <a:r>
              <a:t>บาท เป๊ะๆ ห้ามขาดห้ามเกิน</a:t>
            </a:r>
          </a:p>
          <a:p>
            <a:r>
              <a:t> 2. เช็กยอดเงื่อนไข (SUMIF)</a:t>
            </a:r>
          </a:p>
          <a:p>
            <a:r>
              <a:t>• ใส่สูตรจาก Session 6A:</a:t>
            </a:r>
          </a:p>
          <a:p>
            <a:r>
              <a:t>=SUMIF(L:L, "สาขาสยามสแควร์", V:V)</a:t>
            </a:r>
          </a:p>
          <a:p>
            <a:r>
              <a:t>• หรือดูตาราง Pivot Table ที่ทำไว้ ตรวจว่ายอด</a:t>
            </a:r>
          </a:p>
          <a:p>
            <a:r>
              <a:t>47,820 บาทของสยามตรงกันหรือไม่</a:t>
            </a:r>
          </a:p>
          <a:p>
            <a:r>
              <a:t> 3. สั่ง Gemini แสดงโค้ด</a:t>
            </a:r>
          </a:p>
          <a:p>
            <a:r>
              <a:t>• พิมพ์คำสั่งต่อท้ายเสมอ:</a:t>
            </a:r>
          </a:p>
          <a:p>
            <a:r>
              <a:t>"แสดงโค้ด Python ที่ใช้คำนวณและขั้นตอน Group</a:t>
            </a:r>
          </a:p>
          <a:p>
            <a:r>
              <a:t>By ออกมาด้วย"</a:t>
            </a:r>
          </a:p>
          <a:p>
            <a:r>
              <a:t>• ตรวจดูว่า AI อ้างอิงคอลัมน์ถูกหรือไม่</a:t>
            </a:r>
          </a:p>
          <a:p>
            <a:r>
              <a:t>FACT_CHECK_PROMPT.TXT</a:t>
            </a:r>
          </a:p>
          <a:p>
            <a:r>
              <a:t>Prompt สั่งตรวจงาน: "ช่วยอธิบายขั้นตอนการคำนวณตัวเลขยอดขาย 126,375.75 บาท ว่าดึงมาจากคอลัมน์ใด และแสดงโค้ด Python ที่ใช้ประมวลผล เพื่อ</a:t>
            </a:r>
          </a:p>
          <a:p>
            <a:r>
              <a:t>ให้ฉันนำไปตรวจสอบกับ Google Sheets ได้"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27 Content]</a:t>
            </a:r>
          </a:p>
          <a:p>
            <a:r>
              <a:t>กฎเหล็ก PDPA: เซนเซอร์ข้อมูลส่วนตัวก่อนป้อน AI</a:t>
            </a:r>
          </a:p>
          <a:p>
            <a:r>
              <a:t>ในห้องเรียนเราใช้ชื่อตัวการ์ตูน แต่ในชีวิตจริงต้องปฏิบัติตามกฎหมายอย่างเคร่งครัด!</a:t>
            </a:r>
          </a:p>
          <a:p>
            <a:r>
              <a:t>PRIVACY</a:t>
            </a:r>
          </a:p>
          <a:p>
            <a:r>
              <a:t> 4 ข้อมูลต้องห้าม (Never Send to AI)</a:t>
            </a:r>
          </a:p>
          <a:p>
            <a:r>
              <a:t>❌ 1. ชื่อ-นามสกุลจริง: นายสมชาย ใจดี</a:t>
            </a:r>
          </a:p>
          <a:p>
            <a:r>
              <a:t>❌ 2. เบอร์โทรศัพท์ &amp; LINE ID: 081-xxx-xxxx</a:t>
            </a:r>
          </a:p>
          <a:p>
            <a:r>
              <a:t>❌ 3. ที่อยู่จัดส่งจริง: บ้านเลขที่, คอนโด, ถนน</a:t>
            </a:r>
          </a:p>
          <a:p>
            <a:r>
              <a:t>❌ 4. ข้อมูลการเงิน: เลขบัตรเครดิต, บัญชีธนาคาร</a:t>
            </a:r>
          </a:p>
          <a:p>
            <a:r>
              <a:t> เทคนิค Masking ในตาราง Toon CRM</a:t>
            </a:r>
          </a:p>
          <a:p>
            <a:r>
              <a:t>✔️ ใช้ Customer_ID (เช่น CUST-001) แทนชื่อจริง</a:t>
            </a:r>
          </a:p>
          <a:p>
            <a:r>
              <a:t>✔️ ใช้ช่วงอายุแบบกว้าง (Gen Z, Gen Y) แทนวันเกิด</a:t>
            </a:r>
          </a:p>
          <a:p>
            <a:r>
              <a:t>✔️ ใช้ประเภทการชำระเงิน (QR PromptPay) แทนเลขบัญชี</a:t>
            </a:r>
          </a:p>
          <a:p>
            <a:r>
              <a:t>✔️ AI ไม่จำเป็นต้องรู้ชื่อจริง ก็วิเคราะห์ยอดขายและพฤติกรรมได้ 100%!</a:t>
            </a:r>
          </a:p>
          <a:p>
            <a:r>
              <a:t>โทษทางกฎหมาย PDPA: การส่งข้อมูลส่วนบุคคลของลูกค้าขึ้นระบบ Public Cloud โดยไม่ได้รับความยินยอม มีโทษปรับสูงสุด 5 ล้านบาท และโทษจำคุก!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28 Content]</a:t>
            </a:r>
          </a:p>
          <a:p>
            <a:r>
              <a:t>คัมภีร์ Checklist 6 ข้อ: สแกนคำสั่งก่อนกด Enter</a:t>
            </a:r>
          </a:p>
          <a:p>
            <a:r>
              <a:t>สละเวลาอ่านทบทวน 10 วินาที เพื่อให้ได้ผลลัพธ์ระดับผู้บริหารสูงสุด</a:t>
            </a:r>
          </a:p>
          <a:p>
            <a:r>
              <a:t>CHECKLIST</a:t>
            </a:r>
          </a:p>
          <a:p>
            <a:r>
              <a:t>1. สวม Role ให้ AI แล้วหรือยัง?</a:t>
            </a:r>
          </a:p>
          <a:p>
            <a:r>
              <a:t>เช่น Senior F&amp;B Retail Consultant / Menu Engineer</a:t>
            </a:r>
          </a:p>
          <a:p>
            <a:r>
              <a:t>2. ใส่ Context ร้านชัดเจนไหม?</a:t>
            </a:r>
          </a:p>
          <a:p>
            <a:r>
              <a:t>ร้าน Toon Coffee House 4 สาขา 1,000 ออเดอร์</a:t>
            </a:r>
          </a:p>
          <a:p>
            <a:r>
              <a:t>3. ระบุคอลัมน์เป้าหมายครบถ้วน?</a:t>
            </a:r>
          </a:p>
          <a:p>
            <a:r>
              <a:t>เช่น Net_Amount, Branch, Member_Tier, Product_Name</a:t>
            </a:r>
          </a:p>
          <a:p>
            <a:r>
              <a:t>4. คำสั่งเจาะจงเป็นข้อๆ หรือไม่?</a:t>
            </a:r>
          </a:p>
          <a:p>
            <a:r>
              <a:t>แยกข้อ 1, 2, 3 ไม่อ้อมค้อม ไม่สั่งคำกว้างๆ</a:t>
            </a:r>
          </a:p>
          <a:p>
            <a:r>
              <a:t>5. กำหนด Format ทรงคำตอบชัดเจน?</a:t>
            </a:r>
          </a:p>
          <a:p>
            <a:r>
              <a:t>ขอตาราง Markdown Table + Key Insights + Action Plan</a:t>
            </a:r>
          </a:p>
          <a:p>
            <a:r>
              <a:t>6. มีกฎห้ามมโนตัวเลข (Anti-Guess)?</a:t>
            </a:r>
          </a:p>
          <a:p>
            <a:r>
              <a:t>คำนวณจากตารางจริงเท่านั้น ห้ามเดาตัวเลขขึ้นเอง</a:t>
            </a:r>
          </a:p>
          <a:p>
            <a:r>
              <a:t>จำไว้เสมอ: ผ่าน 6 ข้อนี้เมื่อไหร่ กด Enter ได้ทันที แล้วเตรียมรับคำตอบระดับที่ปรึกษาธุรกิจ!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29 Content]</a:t>
            </a:r>
          </a:p>
          <a:p>
            <a:r>
              <a:t>บทสรุป: สามเหลี่ยมทองคำแห่งการวิเคราะห์ (The Trifecta)</a:t>
            </a:r>
          </a:p>
          <a:p>
            <a:r>
              <a:t>ผสานพลังความรู้ Session 6A + Session 07 + Session 06 สู่การเป็น Data-Driven Entrepreneur</a:t>
            </a:r>
          </a:p>
          <a:p>
            <a:r>
              <a:t>SUMMARY</a:t>
            </a:r>
          </a:p>
          <a:p>
            <a:r>
              <a:t></a:t>
            </a:r>
          </a:p>
          <a:p>
            <a:r>
              <a:t>1. Spreadsheet (6A)</a:t>
            </a:r>
          </a:p>
          <a:p>
            <a:r>
              <a:t>รากฐานความจริง ตัวเลขไม่โกหก ควบคุมสูตรและ</a:t>
            </a:r>
          </a:p>
          <a:p>
            <a:r>
              <a:t>การจัดระเบียบตารางให้สะอาดพร้อมใช้งาน</a:t>
            </a:r>
          </a:p>
          <a:p>
            <a:r>
              <a:t></a:t>
            </a:r>
          </a:p>
          <a:p>
            <a:r>
              <a:t>2. Visualization (07)</a:t>
            </a:r>
          </a:p>
          <a:p>
            <a:r>
              <a:t>การสื่อสารด้วยภาพ จับประเด็นไว ชี้เป้าคอขวด และ</a:t>
            </a:r>
          </a:p>
          <a:p>
            <a:r>
              <a:t>โน้มน้าวทีมงานด้วยกราฟที่ถูกต้อง</a:t>
            </a:r>
          </a:p>
          <a:p>
            <a:r>
              <a:t></a:t>
            </a:r>
          </a:p>
          <a:p>
            <a:r>
              <a:t>3. AI Copilot (06 วันนี้)</a:t>
            </a:r>
          </a:p>
          <a:p>
            <a:r>
              <a:t>สมองกลคิดวิเคราะห์ สกัดความลับ แนะนำกลยุทธ์</a:t>
            </a:r>
          </a:p>
          <a:p>
            <a:r>
              <a:t>และจำลองสถานการณ์อนาคตใน 10 วินาที</a:t>
            </a:r>
          </a:p>
          <a:p>
            <a:r>
              <a:t>"AI จะไม่มาแทนที่เจ้าของธุรกิจ แต่เจ้าของธุรกิจที่ใช้ AI ร่วมกับ Data เป็น จะก้าวนำหน้าคู่แข่งที่ยังทำงานด้วยสัญชาตญาณเสมอ!"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30 Content]</a:t>
            </a:r>
          </a:p>
          <a:p>
            <a:r>
              <a:t>Quizizz Arena: ประลองความรู้ Prompt Engineering Master</a:t>
            </a:r>
          </a:p>
          <a:p>
            <a:r>
              <a:t>ทดสอบความเข้าใจเชิงลึก 10 ข้อ 3 ตัวเลือก ข้อละ 60 วินาที เพื่อเก็บคะแนนสะสม 20%</a:t>
            </a:r>
          </a:p>
          <a:p>
            <a:r>
              <a:t>20% Score</a:t>
            </a:r>
          </a:p>
          <a:p>
            <a:r>
              <a:t></a:t>
            </a:r>
          </a:p>
          <a:p>
            <a:r>
              <a:t>กฎ C-R-O-D-A</a:t>
            </a:r>
          </a:p>
          <a:p>
            <a:r>
              <a:t>หน้าที่ของ Role, Context, Outline, Direction,</a:t>
            </a:r>
          </a:p>
          <a:p>
            <a:r>
              <a:t>และ Answer ในการสั่ง Gemini</a:t>
            </a:r>
          </a:p>
          <a:p>
            <a:r>
              <a:t></a:t>
            </a:r>
          </a:p>
          <a:p>
            <a:r>
              <a:t>Fact-Checking &amp; Hallucination</a:t>
            </a:r>
          </a:p>
          <a:p>
            <a:r>
              <a:t>เทคนิคการจับผิด AI มโนตัวเลข และการตรวจทาน</a:t>
            </a:r>
          </a:p>
          <a:p>
            <a:r>
              <a:t>ด้วยสูตร Google Sheets</a:t>
            </a:r>
          </a:p>
          <a:p>
            <a:r>
              <a:t></a:t>
            </a:r>
          </a:p>
          <a:p>
            <a:r>
              <a:t>Toon Coffee House CRM</a:t>
            </a:r>
          </a:p>
          <a:p>
            <a:r>
              <a:t>การวิเคราะห์ยอดขาย 4 สาขา เมนู ABC สมาชิกตัว</a:t>
            </a:r>
          </a:p>
          <a:p>
            <a:r>
              <a:t>การ์ตูน และการปฏิบัติตาม PDPA</a:t>
            </a:r>
          </a:p>
          <a:p>
            <a:r>
              <a:t>📱 เปิดสมาร์ตโฟนหรือแท็บเล็ต เข้าเว็บไซต์ joinmyquiz.com แล้วรอรับรหัส PIN จากอาจารย์ผู้สอน!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[Slide 31 Content]</a:t>
            </a:r>
          </a:p>
          <a:p>
            <a:r>
              <a:t>Workshop: AI Data Analyst Master (ปฏิบัติการ Toon Coffee</a:t>
            </a:r>
          </a:p>
          <a:p>
            <a:r>
              <a:t>House)</a:t>
            </a:r>
          </a:p>
          <a:p>
            <a:r>
              <a:t>นำไฟล์ session-6a-coffee-sales-crm.xlsx เข้าสู่ Gemini และเขียน Prompt รีด Insight ตาม 5 ภารกิจ</a:t>
            </a:r>
          </a:p>
          <a:p>
            <a:r>
              <a:t>65 นาที</a:t>
            </a:r>
          </a:p>
          <a:p>
            <a:r>
              <a:t> ภารกิจที่ 1: Executive Summary Report</a:t>
            </a:r>
          </a:p>
          <a:p>
            <a:r>
              <a:t>อัปโหลดไฟล์เข้า Gemini สั่งสรุปสุขภาพร้าน 4 สาขา ยอดขายรวม AOV และสัดส่วน</a:t>
            </a:r>
          </a:p>
          <a:p>
            <a:r>
              <a:t>ช่องทางจำหน่าย</a:t>
            </a:r>
          </a:p>
          <a:p>
            <a:r>
              <a:t> ภารกิจที่ 2: Menu Engineering (ABC Analysis)</a:t>
            </a:r>
          </a:p>
          <a:p>
            <a:r>
              <a:t>ให้ Gemini จัดเกรด 19 เมนู หา Star และ Underperformer พร้อมเสนอแผนจับคู่</a:t>
            </a:r>
          </a:p>
          <a:p>
            <a:r>
              <a:t>Bundle เบเกอรี่</a:t>
            </a:r>
          </a:p>
          <a:p>
            <a:r>
              <a:t> ภารกิจที่ 3: Cartoon CRM Goldmine &amp; VIP</a:t>
            </a:r>
          </a:p>
          <a:p>
            <a:r>
              <a:t>ขุดหา Hidden VIP (เคสจิฮิโระ), กลุ่ม Walk-in 150 บิล, และเสนอแคมเปญกระตุ้น</a:t>
            </a:r>
          </a:p>
          <a:p>
            <a:r>
              <a:t>แต้มสมาชิก</a:t>
            </a:r>
          </a:p>
          <a:p>
            <a:r>
              <a:t> ภารกิจที่ 4: Branch Optimization (ลาดพร้าว)</a:t>
            </a:r>
          </a:p>
          <a:p>
            <a:r>
              <a:t>เจาะลึกหาสาเหตุที่ลาดพร้าวได้ Rating 4.36 และยอดขายรั้งท้าย พร้อมร่างแผนแก้</a:t>
            </a:r>
          </a:p>
          <a:p>
            <a:r>
              <a:t>วิกฤต</a:t>
            </a:r>
          </a:p>
          <a:p>
            <a:r>
              <a:t> ภารกิจที่ 5: What-If Simulation &amp; Fact-Check ด้วย Sheets</a:t>
            </a:r>
          </a:p>
          <a:p>
            <a:r>
              <a:t>จำลองการปรับราคา Upsize +5 บาท หรือการเปลี่ยน Walk-in เป็นสมาชิก แล้วเปิด Google Sheets ใช้สูตร SUM/SUMIF ตรวจทานตัวเลขที่ AI รายงานว่าตรงกันหรือไม่!</a:t>
            </a:r>
          </a:p>
          <a:p>
            <a:r>
              <a:t>ส่งงาน: บันทึกข้อความ Prompt และคำตอบของ Gemini พร้อมผลการ Fact-Check ลงใน Google Docs และส่งในระบบก่อนหมดเวลา!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